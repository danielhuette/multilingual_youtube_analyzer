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sm.presentations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50" r:id="rId5"/>
  </p:sldMasterIdLst>
  <p:notesMasterIdLst>
    <p:notesMasterId r:id="rId6"/>
  </p:notesMasterIdLst>
  <p:sldIdLst>
    <p:sldId id="316" r:id="rId7"/>
    <p:sldId id="256" r:id="rId8"/>
    <p:sldId id="301" r:id="rId9"/>
    <p:sldId id="257" r:id="rId10"/>
    <p:sldId id="286" r:id="rId11"/>
    <p:sldId id="258" r:id="rId12"/>
    <p:sldId id="285" r:id="rId13"/>
    <p:sldId id="284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98" r:id="rId27"/>
    <p:sldId id="313" r:id="rId28"/>
    <p:sldId id="292" r:id="rId29"/>
    <p:sldId id="293" r:id="rId30"/>
    <p:sldId id="314" r:id="rId31"/>
    <p:sldId id="291" r:id="rId32"/>
    <p:sldId id="274" r:id="rId33"/>
    <p:sldId id="299" r:id="rId34"/>
    <p:sldId id="276" r:id="rId35"/>
    <p:sldId id="278" r:id="rId36"/>
    <p:sldId id="304" r:id="rId37"/>
    <p:sldId id="303" r:id="rId38"/>
    <p:sldId id="310" r:id="rId39"/>
    <p:sldId id="302" r:id="rId40"/>
    <p:sldId id="312" r:id="rId41"/>
    <p:sldId id="311" r:id="rId42"/>
    <p:sldId id="315" r:id="rId43"/>
    <p:sldId id="294" r:id="rId44"/>
    <p:sldId id="295" r:id="rId45"/>
    <p:sldId id="306" r:id="rId46"/>
    <p:sldId id="305" r:id="rId47"/>
    <p:sldId id="309" r:id="rId48"/>
    <p:sldId id="308" r:id="rId49"/>
    <p:sldId id="307" r:id="rId50"/>
    <p:sldId id="300" r:id="rId51"/>
    <p:sldId id="282" r:id="rId52"/>
    <p:sldId id="283" r:id="rId53"/>
  </p:sldIdLst>
  <p:hf sldNum="0" hdr="0" ftr="0" dt="0">
    <p:prHF dtFmt="0"/>
  </p:hf>
  <p:sldSz cx="9144000" cy="5143500"/>
  <p:notesSz cx="5143500" cy="9144000"/>
  <p:defaultTextStyle>
    <a:lvl1pPr marL="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8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r:smAppRevision xmlns:pr="smNativeData" xmlns="smNativeData" dt="1776430739" val="1068" revOS="4"/>
  <pr:smFileRevision xmlns:pr="smNativeData" xmlns="smNativeData" dt="1776430739" val="101"/>
  <p:showPr showNarration="1">
    <p:penClr>
      <a:srgbClr val="0000FF"/>
    </p:penClr>
  </p:showPr>
  <p:extLst>
    <p:ext uri="smNativeData">
      <pr:guideOptions xmlns:pr="smNativeData" xmlns="smNativeData" dt="1776430739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>
        <p:scale>
          <a:sx n="111" d="100"/>
          <a:sy n="111" d="100"/>
        </p:scale>
        <p:origin x="270" y="648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9" d="100"/>
        <a:sy n="29" d="100"/>
      </p:scale>
      <p:origin x="0" y="0"/>
    </p:cViewPr>
  </p:sorterViewPr>
  <p:notesViewPr>
    <p:cSldViewPr snapToGrid="0" snapToObjects="1">
      <p:cViewPr>
        <p:scale>
          <a:sx n="111" d="100"/>
          <a:sy n="111" d="100"/>
        </p:scale>
        <p:origin x="270" y="648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PFB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401E90A-44D9-541F-97B9-B24AA7F761E7}" type="datetime1">
              <a:t>{Datum/Zeit}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4018D3C-72D9-547B-97B9-842EC3F761D1}" type="slidenum">
              <a:t>{Nr.}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>
    <p:prHF dtFmt="0"/>
  </p:hf>
  <p:notesStyle>
    <a:lvl1pPr marL="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hyphen val="0"/>
      <a:lnSpc>
        <a:spcPct val="100000"/>
      </a:lnSpc>
      <a:spcBef>
        <a:spcPts val="0"/>
      </a:spcBef>
      <a:spcAft>
        <a:spcPts val="0"/>
      </a:spcAft>
      <a:buNone/>
      <p:prBullet>
        <a:buNone/>
      </p:prBullet>
      <a:tabLst/>
      <a:defRPr sz="1200" b="0" i="0" u="none" strike="noStrike" kern="1" cap="none" spc="0" prSpc="50" pitch="50" baseline="0">
        <a:solidFill>
          <a:schemeClr val="tx1"/>
        </a:solidFill>
        <a:effectLst/>
        <a:txBgFill val="auto"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D294-DAD9-5424-97B9-2C719CF76179}" type="slidenum"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E970-3ED9-541F-97B9-C84AA7F7619D}" type="slidenum">
              <a:rPr lang="en-us" cap="none"/>
              <a:t>2</a:t>
            </a:fld>
            <a:endParaRPr lang="en-us" cap="none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F12A-64D9-5407-97B9-9252BFF761C7}" type="slidenum">
              <a:rPr lang="en-us" cap="none"/>
              <a:t>2</a:t>
            </a:fld>
            <a:endParaRPr lang="en-us" cap="none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844A-04D9-5472-97B9-F227CAF761A7}" type="slidenum">
              <a:rPr lang="en-us" cap="none"/>
              <a:t>3</a:t>
            </a:fld>
            <a:endParaRPr lang="en-us" cap="none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C7D0-9ED9-5431-97B9-686489F7613D}" type="slidenum">
              <a:rPr lang="en-us" cap="none"/>
              <a:t>3</a:t>
            </a:fld>
            <a:endParaRPr lang="en-us" cap="none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9CB-85D9-545F-97B9-730AE7F76126}" type="slidenum">
              <a:rPr lang="en-us" cap="none"/>
              <a:t>6</a:t>
            </a:fld>
            <a:endParaRPr lang="en-us" cap="none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9702-4CD9-5461-97B9-BA34D9F761EF}" type="slidenum">
              <a:rPr lang="en-us" cap="none"/>
              <a:t>6</a:t>
            </a:fld>
            <a:endParaRPr lang="en-us" cap="none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uGLh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uGLh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DB38-76D9-542D-97B9-807895F761D5}" type="slidenum">
              <a:rPr lang="en-us" cap="none"/>
              <a:t>6</a:t>
            </a:fld>
            <a:endParaRPr lang="en-us" cap="none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99F-D1D9-545F-97B9-270AE7F76172}" type="slidenum">
              <a:rPr lang="en-us" cap="none"/>
              <a:t>7</a:t>
            </a:fld>
            <a:endParaRPr lang="en-us" cap="none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44D-03D9-5452-97B9-F507EAF761A0}" type="slidenum">
              <a:rPr lang="en-us" cap="none"/>
              <a:t>8</a:t>
            </a:fld>
            <a:endParaRPr lang="en-us" cap="none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E1A8-E6D9-5417-97B9-1042AFF76145}" type="slidenum">
              <a:rPr lang="en-us" cap="none"/>
              <a:t>9</a:t>
            </a:fld>
            <a:endParaRPr lang="en-us" cap="none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D10B-45D9-5427-97B9-B3729FF761E6}" type="slidenum">
              <a:rPr lang="en-us" cap="none"/>
              <a:t>10</a:t>
            </a:fld>
            <a:endParaRPr lang="en-us" cap="none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B9D3-9DD9-544F-97B9-6B1AF7F7613E}" type="slidenum">
              <a:rPr lang="en-us" cap="none"/>
              <a:t>11</a:t>
            </a:fld>
            <a:endParaRPr lang="en-us" cap="none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F3BF-F1D9-5405-97B9-0750BDF76152}" type="slidenum">
              <a:rPr lang="en-us" cap="none"/>
              <a:t>12</a:t>
            </a:fld>
            <a:endParaRPr lang="en-us" cap="none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C0A1-EFD9-5436-97B9-19638EF7614C}" type="slidenum">
              <a:rPr lang="en-us" cap="none"/>
              <a:t>13</a:t>
            </a:fld>
            <a:endParaRPr lang="en-us" cap="none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857C-32D9-5473-97B9-C426CBF76191}" type="slidenum">
              <a:rPr lang="en-us" cap="none"/>
              <a:t>14</a:t>
            </a:fld>
            <a:endParaRPr lang="en-us" cap="none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BFA6-E8D9-5449-97B9-1E1CF1F7614B}" type="slidenum">
              <a:rPr lang="en-us" cap="none"/>
              <a:t>15</a:t>
            </a:fld>
            <a:endParaRPr lang="en-us" cap="none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D303-4DD9-5425-97B9-BB709DF761EE}" type="slidenum">
              <a:rPr lang="en-us" cap="none"/>
              <a:t>16</a:t>
            </a:fld>
            <a:endParaRPr lang="en-us" cap="none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EFBE-F0D9-5419-97B9-064CA1F76153}" type="slidenum">
              <a:rPr lang="en-us" cap="none"/>
              <a:t>17</a:t>
            </a:fld>
            <a:endParaRPr lang="en-us" cap="none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CD0C-42D9-543B-97B9-B46E83F761E1}" type="slidenum">
              <a:rPr lang="en-us" cap="none"/>
              <a:t>18</a:t>
            </a:fld>
            <a:endParaRPr lang="en-us" cap="none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C6BE-F0D9-5430-97B9-066588F76153}" type="slidenum">
              <a:rPr lang="en-us" cap="none"/>
              <a:t>18</a:t>
            </a:fld>
            <a:endParaRPr lang="en-us" cap="none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2A0-EED9-5454-97B9-1801ECF7614D}" type="slidenum">
              <a:rPr lang="en-us" cap="none"/>
              <a:t>19</a:t>
            </a:fld>
            <a:endParaRPr lang="en-us" cap="none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F8FE-B0D9-540E-97B9-465BB6F76113}" type="slidenum">
              <a:rPr lang="en-us" cap="none"/>
              <a:t>19</a:t>
            </a:fld>
            <a:endParaRPr lang="en-us" cap="none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8908-46D9-547F-97B9-B02AC7F761E5}" type="slidenum">
              <a:rPr lang="en-us" cap="none"/>
              <a:t>19</a:t>
            </a:fld>
            <a:endParaRPr lang="en-us" cap="none"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FAB9-F7D9-540C-97B9-0159B4F76154}" type="slidenum">
              <a:rPr lang="en-us" cap="none"/>
              <a:t>19</a:t>
            </a:fld>
            <a:endParaRPr lang="en-us" cap="none"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B0CD-83D9-5446-97B9-7513FEF76120}" type="slidenum">
              <a:rPr lang="en-us" cap="none"/>
              <a:t>19</a:t>
            </a:fld>
            <a:endParaRPr lang="en-us" cap="none"/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D969-27D9-542F-97B9-D17A97F76184}" type="slidenum">
              <a:rPr lang="en-us" cap="none"/>
              <a:t>21</a:t>
            </a:fld>
            <a:endParaRPr lang="en-us" cap="none"/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Kuz1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NldO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BBF1-BFD9-544D-97B9-4918F5F7611C}" type="slidenum">
              <a:rPr lang="en-us" cap="none"/>
              <a:t>21</a:t>
            </a:fld>
            <a:endParaRPr lang="en-us" cap="none"/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uWXe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VlI0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E817-59D9-541E-97B9-AF4BA6F761FA}" type="slidenum">
              <a:rPr lang="en-us" cap="none"/>
              <a:t>23</a:t>
            </a:fld>
            <a:endParaRPr lang="en-us" cap="none"/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9C6C-22D9-546A-97B9-D43FD2F76181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B823-6DD9-544E-97B9-9B1BF6F761CE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2F2-BCD9-5454-97B9-4A01ECF7611F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E079-37D9-5416-97B9-C143AEF76194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D5B7-F9D9-5423-97B9-0F769BF7615A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655-1BD9-5450-97B9-ED05E8F761B8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95E2-ACD9-5463-97B9-5A36DBF7610F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w8Vg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SHWA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BA25-6BD9-544C-97B9-9D19F4F761C8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FF23-6DD9-5409-97B9-9B5CB1F761CE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B70-3ED9-545D-97B9-C808E5F7619D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C2B1-FFD9-5434-97B9-09618CF7615C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FE87-C9D9-5408-97B9-3F5DB0F7616A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93C2-8CD9-5465-97B9-7A30DDF7612F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81BA-F4D9-5477-97B9-0222CFF76157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A816-58D9-545E-97B9-AE0BE6F761FB}" type="slidenum">
              <a:rPr lang="en-us" cap="none"/>
              <a:t>27</a:t>
            </a:fld>
            <a:endParaRPr lang="en-us" cap="none"/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D997-D9D9-542F-97B9-2F7A97F7617A}" type="slidenum">
              <a:rPr lang="en-us" cap="none"/>
              <a:t>27</a:t>
            </a:fld>
            <a:endParaRPr lang="en-us" cap="none"/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9736-78D9-5461-97B9-8E34D9F761DB}" type="slidenum">
              <a:rPr lang="en-us" cap="none"/>
              <a:t>28</a:t>
            </a:fld>
            <a:endParaRPr lang="en-us" cap="none"/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ky7iaRMAAAAlAAAAZAAAAC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ky7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401C695-DBD9-5430-97B9-2D6588F76178}" type="slidenum">
              <a:t>1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 slide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p:prBullet>
                <a:buNone/>
              </p:prBullet>
            </a:lvl1pPr>
            <a:lvl2pPr marL="457200" indent="0" algn="ctr">
              <a:buNone/>
              <p:prBullet>
                <a:buNone/>
              </p:prBullet>
            </a:lvl2pPr>
            <a:lvl3pPr marL="914400" indent="0" algn="ctr">
              <a:buNone/>
              <p:prBullet>
                <a:buNone/>
              </p:prBullet>
            </a:lvl3pPr>
            <a:lvl4pPr marL="1371600" indent="0" algn="ctr">
              <a:buNone/>
              <p:prBullet>
                <a:buNone/>
              </p:prBullet>
            </a:lvl4pPr>
            <a:lvl5pPr marL="1828800" indent="0" algn="ctr">
              <a:buNone/>
              <p:prBullet>
                <a:buNone/>
              </p:prBullet>
            </a:lvl5pPr>
            <a:lvl6pPr marL="2286000" indent="0" algn="ctr">
              <a:buNone/>
              <p:prBullet>
                <a:buNone/>
              </p:prBullet>
            </a:lvl6pPr>
            <a:lvl7pPr marL="2743200" indent="0" algn="ctr">
              <a:buNone/>
              <p:prBullet>
                <a:buNone/>
              </p:prBullet>
            </a:lvl7pPr>
            <a:lvl8pPr marL="3200400" indent="0" algn="ctr">
              <a:buNone/>
              <p:prBullet>
                <a:buNone/>
              </p:prBullet>
            </a:lvl8pPr>
            <a:lvl9pPr marL="3657600" indent="0" algn="ctr">
              <a:buNone/>
              <p:prBullet>
                <a:buNone/>
              </p:prBullet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FBF8-B6D9-540D-97B9-4058B5F76115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kA+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D86F-21D9-542E-97B9-D77B96F76182}" type="footer">
              <a:t>{Footer}</a:t>
            </a:fld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F46F-21D9-5402-97B9-D757BAF76182}" type="slidenum">
              <a:t>{Nr.}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DCE3-ADD9-542A-97B9-5B7F92F7610E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F62B-65D9-5400-97B9-9355B8F761C6}" type="footer">
              <a:t>{Footer}</a:t>
            </a:fld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B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CDE6-A8D9-543B-97B9-5E6E83F7610B}" type="slidenum">
              <a:t>{Nr.}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+N/4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p:prBullet>
                <a:buNone/>
              </p:prBullet>
              <a:defRPr sz="2000" cap="none"/>
            </a:lvl1pPr>
            <a:lvl2pPr marL="457200" indent="0">
              <a:buNone/>
              <p:prBullet>
                <a:buNone/>
              </p:prBullet>
              <a:defRPr sz="1800" cap="none"/>
            </a:lvl2pPr>
            <a:lvl3pPr marL="914400" indent="0">
              <a:buNone/>
              <p:prBullet>
                <a:buNone/>
              </p:prBullet>
              <a:defRPr sz="1600" cap="none"/>
            </a:lvl3pPr>
            <a:lvl4pPr marL="1371600" indent="0">
              <a:buNone/>
              <p:prBullet>
                <a:buNone/>
              </p:prBullet>
              <a:defRPr sz="1400" cap="none"/>
            </a:lvl4pPr>
            <a:lvl5pPr marL="1828800" indent="0">
              <a:buNone/>
              <p:prBullet>
                <a:buNone/>
              </p:prBullet>
              <a:defRPr sz="1400" cap="none"/>
            </a:lvl5pPr>
            <a:lvl6pPr marL="2286000" indent="0">
              <a:buNone/>
              <p:prBullet>
                <a:buNone/>
              </p:prBullet>
              <a:defRPr sz="1400" cap="none"/>
            </a:lvl6pPr>
            <a:lvl7pPr marL="2743200" indent="0">
              <a:buNone/>
              <p:prBullet>
                <a:buNone/>
              </p:prBullet>
              <a:defRPr sz="1400" cap="none"/>
            </a:lvl7pPr>
            <a:lvl8pPr marL="3200400" indent="0">
              <a:buNone/>
              <p:prBullet>
                <a:buNone/>
              </p:prBullet>
              <a:defRPr sz="1400" cap="none"/>
            </a:lvl8pPr>
            <a:lvl9pPr marL="3657600" indent="0">
              <a:buNone/>
              <p:prBullet>
                <a:buNone/>
              </p:prBullet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D254-1AD9-5424-97B9-EC719CF761B9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0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84CC-82D9-5472-97B9-7427CAF76121}" type="footer">
              <a:t>{Footer}</a:t>
            </a:fld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Js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A66D-23D9-5450-97B9-D505E8F76180}" type="slidenum">
              <a:t>{Nr.}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0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Dg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M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ICYAANgJAABARwAAsCUAABAAAAAmAAAACAAAAAGAAAAAAAAA"/>
              </a:ext>
            </a:extLst>
          </p:cNvSpPr>
          <p:nvPr>
            <p:ph idx="2"/>
          </p:nvPr>
        </p:nvSpPr>
        <p:spPr>
          <a:xfrm>
            <a:off x="6197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4M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D2B9-F7D9-5424-97B9-01719CF76154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U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F6CA-84D9-5400-97B9-7255B8F76127}" type="footer">
              <a:t>{Footer}</a:t>
            </a:fld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o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8ED1-9FD9-5478-97B9-692DC0F7613C}" type="slidenum">
              <a:t>{Nr.}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A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HEJAADi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070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p:prBullet>
                <a:buNone/>
              </p:prBullet>
              <a:defRPr sz="2400" b="1" cap="none"/>
            </a:lvl1pPr>
            <a:lvl2pPr marL="457200" indent="0">
              <a:buNone/>
              <p:prBullet>
                <a:buNone/>
              </p:prBullet>
              <a:defRPr sz="2000" b="1" cap="none"/>
            </a:lvl2pPr>
            <a:lvl3pPr marL="914400" indent="0">
              <a:buNone/>
              <p:prBullet>
                <a:buNone/>
              </p:prBullet>
              <a:defRPr sz="1800" b="1" cap="none"/>
            </a:lvl3pPr>
            <a:lvl4pPr marL="1371600" indent="0">
              <a:buNone/>
              <p:prBullet>
                <a:buNone/>
              </p:prBullet>
              <a:defRPr sz="1600" b="1" cap="none"/>
            </a:lvl4pPr>
            <a:lvl5pPr marL="1828800" indent="0">
              <a:buNone/>
              <p:prBullet>
                <a:buNone/>
              </p:prBullet>
              <a:defRPr sz="1600" b="1" cap="none"/>
            </a:lvl5pPr>
            <a:lvl6pPr marL="2286000" indent="0">
              <a:buNone/>
              <p:prBullet>
                <a:buNone/>
              </p:prBullet>
              <a:defRPr sz="1600" b="1" cap="none"/>
            </a:lvl6pPr>
            <a:lvl7pPr marL="2743200" indent="0">
              <a:buNone/>
              <p:prBullet>
                <a:buNone/>
              </p:prBullet>
              <a:defRPr sz="1600" b="1" cap="none"/>
            </a:lvl7pPr>
            <a:lvl8pPr marL="3200400" indent="0">
              <a:buNone/>
              <p:prBullet>
                <a:buNone/>
              </p:prBullet>
              <a:defRPr sz="1600" b="1" cap="none"/>
            </a:lvl8pPr>
            <a:lvl9pPr marL="3657600" indent="0">
              <a:buNone/>
              <p:prBullet>
                <a:buNone/>
              </p:prBullet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GENAADi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070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p:prBullet>
                <a:buNone/>
              </p:prBullet>
              <a:defRPr sz="2400" b="1" cap="none"/>
            </a:lvl1pPr>
            <a:lvl2pPr marL="457200" indent="0">
              <a:buNone/>
              <p:prBullet>
                <a:buNone/>
              </p:prBullet>
              <a:defRPr sz="2000" b="1" cap="none"/>
            </a:lvl2pPr>
            <a:lvl3pPr marL="914400" indent="0">
              <a:buNone/>
              <p:prBullet>
                <a:buNone/>
              </p:prBullet>
              <a:defRPr sz="1800" b="1" cap="none"/>
            </a:lvl3pPr>
            <a:lvl4pPr marL="1371600" indent="0">
              <a:buNone/>
              <p:prBullet>
                <a:buNone/>
              </p:prBullet>
              <a:defRPr sz="1600" b="1" cap="none"/>
            </a:lvl4pPr>
            <a:lvl5pPr marL="1828800" indent="0">
              <a:buNone/>
              <p:prBullet>
                <a:buNone/>
              </p:prBullet>
              <a:defRPr sz="1600" b="1" cap="none"/>
            </a:lvl5pPr>
            <a:lvl6pPr marL="2286000" indent="0">
              <a:buNone/>
              <p:prBullet>
                <a:buNone/>
              </p:prBullet>
              <a:defRPr sz="1600" b="1" cap="none"/>
            </a:lvl6pPr>
            <a:lvl7pPr marL="2743200" indent="0">
              <a:buNone/>
              <p:prBullet>
                <a:buNone/>
              </p:prBullet>
              <a:defRPr sz="1600" b="1" cap="none"/>
            </a:lvl7pPr>
            <a:lvl8pPr marL="3200400" indent="0">
              <a:buNone/>
              <p:prBullet>
                <a:buNone/>
              </p:prBullet>
              <a:defRPr sz="1600" b="1" cap="none"/>
            </a:lvl8pPr>
            <a:lvl9pPr marL="3657600" indent="0">
              <a:buNone/>
              <p:prBullet>
                <a:buNone/>
              </p:prBullet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Y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FF57-19D9-5409-97B9-EF5CB1F761BA}" type="datetime1">
              <a:t>{Date/Time}</a:t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c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A3EF-A1D9-5455-97B9-5700EDF76102}" type="footer">
              <a:t>{Footer}</a:t>
            </a:fld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A2FD-B3D9-5454-97B9-4501ECF76110}" type="slidenum">
              <a:t>{Nr.}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4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B984-CAD9-544F-97B9-3C1AF7F76169}" type="datetime1">
              <a:t>{Date/Time}</a:t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8C2C-62D9-547A-97B9-942FC2F761C1}" type="footer">
              <a:t>{Footer}</a:t>
            </a:fld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9FAD-E3D9-5469-97B9-153CD1F76140}" type="slidenum">
              <a:t>{Nr.}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A5CC-82D9-5453-97B9-7406EBF76121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N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CEFE-B0D9-5438-97B9-466D80F76113}" type="footer">
              <a:t/>
            </a:fld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FE84-CAD9-5408-97B9-3C5DB0F76169}" type="slidenum">
              <a:t/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MI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Uh0AAK4BAABARwAAsCUAABAAAAAmAAAACAAAAAGAAAAAAAAA"/>
              </a:ext>
            </a:extLst>
          </p:cNvSpPr>
          <p:nvPr>
            <p:ph idx="1"/>
          </p:nvPr>
        </p:nvSpPr>
        <p:spPr>
          <a:xfrm>
            <a:off x="4766310" y="273050"/>
            <a:ext cx="6816090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IO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p:prBullet>
                <a:buNone/>
              </p:prBullet>
              <a:defRPr sz="1400" cap="none"/>
            </a:lvl1pPr>
            <a:lvl2pPr marL="457200" indent="0">
              <a:buNone/>
              <p:prBullet>
                <a:buNone/>
              </p:prBullet>
              <a:defRPr sz="1200" cap="none"/>
            </a:lvl2pPr>
            <a:lvl3pPr marL="914400" indent="0">
              <a:buNone/>
              <p:prBullet>
                <a:buNone/>
              </p:prBullet>
              <a:defRPr sz="1000" cap="none"/>
            </a:lvl3pPr>
            <a:lvl4pPr marL="1371600" indent="0">
              <a:buNone/>
              <p:prBullet>
                <a:buNone/>
              </p:prBullet>
              <a:defRPr sz="900" cap="none"/>
            </a:lvl4pPr>
            <a:lvl5pPr marL="1828800" indent="0">
              <a:buNone/>
              <p:prBullet>
                <a:buNone/>
              </p:prBullet>
              <a:defRPr sz="900" cap="none"/>
            </a:lvl5pPr>
            <a:lvl6pPr marL="2286000" indent="0">
              <a:buNone/>
              <p:prBullet>
                <a:buNone/>
              </p:prBullet>
              <a:defRPr sz="900" cap="none"/>
            </a:lvl6pPr>
            <a:lvl7pPr marL="2743200" indent="0">
              <a:buNone/>
              <p:prBullet>
                <a:buNone/>
              </p:prBullet>
              <a:defRPr sz="900" cap="none"/>
            </a:lvl7pPr>
            <a:lvl8pPr marL="3200400" indent="0">
              <a:buNone/>
              <p:prBullet>
                <a:buNone/>
              </p:prBullet>
              <a:defRPr sz="900" cap="none"/>
            </a:lvl8pPr>
            <a:lvl9pPr marL="3657600" indent="0">
              <a:buNone/>
              <p:prBullet>
                <a:buNone/>
              </p:prBullet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4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A173-3DD9-5457-97B9-CB02EFF7619E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A31F-51D9-5455-97B9-A700EDF761F2}" type="footer">
              <a:t>{Footer}</a:t>
            </a:fld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c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F481-CFD9-5402-97B9-3957BAF7616C}" type="slidenum">
              <a:t>{Nr.}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n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sg4AAIgdAACyOwAABCEAABAAAAAmAAAACAAAAIGAAAAAAAAA"/>
              </a:ext>
            </a:extLst>
          </p:cNvSpPr>
          <p:nvPr>
            <p:ph type="title"/>
          </p:nvPr>
        </p:nvSpPr>
        <p:spPr>
          <a:xfrm>
            <a:off x="2388870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sg4AAMYDAACyOwAAFh0AABAAAAAmAAAACAAAAAGAAAAAAAAA"/>
              </a:ext>
            </a:extLst>
          </p:cNvSpPr>
          <p:nvPr>
            <p:ph idx="1"/>
          </p:nvPr>
        </p:nvSpPr>
        <p:spPr>
          <a:xfrm>
            <a:off x="2388870" y="613410"/>
            <a:ext cx="7315200" cy="4114800"/>
          </a:xfrm>
        </p:spPr>
        <p:txBody>
          <a:bodyPr/>
          <a:lstStyle>
            <a:lvl1pPr marL="0" indent="0">
              <a:buNone/>
              <p:prBullet>
                <a:buNone/>
              </p:prBullet>
              <a:defRPr sz="3200" cap="none"/>
            </a:lvl1pPr>
            <a:lvl2pPr marL="457200" indent="0">
              <a:buNone/>
              <p:prBullet>
                <a:buNone/>
              </p:prBullet>
              <a:defRPr sz="2800" cap="none"/>
            </a:lvl2pPr>
            <a:lvl3pPr marL="914400" indent="0">
              <a:buNone/>
              <p:prBullet>
                <a:buNone/>
              </p:prBullet>
              <a:defRPr sz="2400" cap="none"/>
            </a:lvl3pPr>
            <a:lvl4pPr marL="1371600" indent="0">
              <a:buNone/>
              <p:prBullet>
                <a:buNone/>
              </p:prBullet>
              <a:defRPr sz="2000" cap="none"/>
            </a:lvl4pPr>
            <a:lvl5pPr marL="1828800" indent="0">
              <a:buNone/>
              <p:prBullet>
                <a:buNone/>
              </p:prBullet>
              <a:defRPr sz="2000" cap="none"/>
            </a:lvl5pPr>
            <a:lvl6pPr marL="2286000" indent="0">
              <a:buNone/>
              <p:prBullet>
                <a:buNone/>
              </p:prBullet>
              <a:defRPr sz="2000" cap="none"/>
            </a:lvl6pPr>
            <a:lvl7pPr marL="2743200" indent="0">
              <a:buNone/>
              <p:prBullet>
                <a:buNone/>
              </p:prBullet>
              <a:defRPr sz="2000" cap="none"/>
            </a:lvl7pPr>
            <a:lvl8pPr marL="3200400" indent="0">
              <a:buNone/>
              <p:prBullet>
                <a:buNone/>
              </p:prBullet>
              <a:defRPr sz="2000" cap="none"/>
            </a:lvl8pPr>
            <a:lvl9pPr marL="3657600" indent="0">
              <a:buNone/>
              <p:prBullet>
                <a:buNone/>
              </p:prBullet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w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sg4AAAQhAACyOwAA+CUAABAAAAAmAAAACAAAAAGAAAAAAAAA"/>
              </a:ext>
            </a:extLst>
          </p:cNvSpPr>
          <p:nvPr>
            <p:ph idx="2"/>
          </p:nvPr>
        </p:nvSpPr>
        <p:spPr>
          <a:xfrm>
            <a:off x="2388870" y="5367020"/>
            <a:ext cx="7315200" cy="805180"/>
          </a:xfrm>
        </p:spPr>
        <p:txBody>
          <a:bodyPr/>
          <a:lstStyle>
            <a:lvl1pPr marL="0" indent="0">
              <a:buNone/>
              <p:prBullet>
                <a:buNone/>
              </p:prBullet>
              <a:defRPr sz="1400" cap="none"/>
            </a:lvl1pPr>
            <a:lvl2pPr marL="457200" indent="0">
              <a:buNone/>
              <p:prBullet>
                <a:buNone/>
              </p:prBullet>
              <a:defRPr sz="1200" cap="none"/>
            </a:lvl2pPr>
            <a:lvl3pPr marL="914400" indent="0">
              <a:buNone/>
              <p:prBullet>
                <a:buNone/>
              </p:prBullet>
              <a:defRPr sz="1000" cap="none"/>
            </a:lvl3pPr>
            <a:lvl4pPr marL="1371600" indent="0">
              <a:buNone/>
              <p:prBullet>
                <a:buNone/>
              </p:prBullet>
              <a:defRPr sz="900" cap="none"/>
            </a:lvl4pPr>
            <a:lvl5pPr marL="1828800" indent="0">
              <a:buNone/>
              <p:prBullet>
                <a:buNone/>
              </p:prBullet>
              <a:defRPr sz="900" cap="none"/>
            </a:lvl5pPr>
            <a:lvl6pPr marL="2286000" indent="0">
              <a:buNone/>
              <p:prBullet>
                <a:buNone/>
              </p:prBullet>
              <a:defRPr sz="900" cap="none"/>
            </a:lvl6pPr>
            <a:lvl7pPr marL="2743200" indent="0">
              <a:buNone/>
              <p:prBullet>
                <a:buNone/>
              </p:prBullet>
              <a:defRPr sz="900" cap="none"/>
            </a:lvl7pPr>
            <a:lvl8pPr marL="3200400" indent="0">
              <a:buNone/>
              <p:prBullet>
                <a:buNone/>
              </p:prBullet>
              <a:defRPr sz="900" cap="none"/>
            </a:lvl8pPr>
            <a:lvl9pPr marL="3657600" indent="0">
              <a:buNone/>
              <p:prBullet>
                <a:buNone/>
              </p:prBullet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U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EA18-56D9-541C-97B9-A049A4F761F5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D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B103-4DD9-5447-97B9-BB12FFF761EE}" type="footer">
              <a:t>{Footer}</a:t>
            </a:fld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g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B6DC-92D9-5440-97B9-6415F8F76131}" type="slidenum">
              <a:t>{Nr.}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Y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Q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k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DE0D-43D9-5428-97B9-B57D90F761E0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O0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C7FC-B2D9-5431-97B9-446489F76111}" type="footer">
              <a:t>{Footer}</a:t>
            </a:fld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AA1E-50D9-545C-97B9-A609E4F761F3}" type="slidenum">
              <a:t>{Nr.}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CAAAAAQ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Mc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Q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Ag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6400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401C40A-44D9-5432-97B9-B2678AF761E7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fld id="{3401A5FC-B2D9-5453-97B9-4406EBF76111}" type="footer">
              <a:t>{Footer}</a:t>
            </a:fld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401C760-2ED9-5431-97B9-D86489F7618D}" type="slidenum">
              <a:t>{Nr.}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Vine"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800" cy="36449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3401D8B6-F8D9-542E-97B9-0E7B96F7615B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5600" y="6356985"/>
            <a:ext cx="3860800" cy="36449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  <a:fld id="{3401BA5C-12D9-544C-97B9-E419F4F761B1}" type="footer">
              <a:t/>
            </a:fld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ky7iaR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7600" y="6356985"/>
            <a:ext cx="2844800" cy="36449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401BD0C-42D9-544B-97B9-B41EF3F761E1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>
    <p:prHF dtFmt="0"/>
  </p:hf>
  <p:txStyles>
    <p:titleStyle>
      <a:lvl1pPr marL="0" marR="0" indent="0" algn="ctr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4400" b="0" i="0" u="none" strike="noStrike" kern="1" cap="none" spc="0" prSpc="50" pitch="50" baseline="0">
          <a:solidFill>
            <a:schemeClr val="tx2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p:prBullet>
          <a:buChar char="•">
            <a:pos y="0"/>
            <a:buClrTx/>
            <a:buSzTx/>
            <a:buFontTx/>
          </a:buChar>
        </p:prBullet>
        <a:tabLst/>
        <a:defRPr sz="32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p:prBullet>
          <a:buChar char="–">
            <a:pos y="0"/>
            <a:buClrTx/>
            <a:buSzTx/>
            <a:buFontTx/>
          </a:buChar>
        </p:prBullet>
        <a:tabLst/>
        <a:defRPr sz="2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p:prBullet>
          <a:buChar char="•">
            <a:pos y="0"/>
            <a:buClrTx/>
            <a:buSzTx/>
            <a:buFontTx/>
          </a:buChar>
        </p:prBullet>
        <a:tabLst/>
        <a:defRPr sz="24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p:prBullet>
          <a:buChar char="–">
            <a:pos y="0"/>
            <a:buClrTx/>
            <a:buSzTx/>
            <a:buFontTx/>
          </a:buChar>
        </p:prBullet>
        <a:tabLst/>
        <a:defRPr sz="20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p:prBullet>
          <a:buChar char="»">
            <a:pos y="0"/>
            <a:buClrTx/>
            <a:buSzTx/>
            <a:buFontTx/>
          </a:buChar>
        </p:prBullet>
        <a:tabLst/>
        <a:defRPr sz="20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p:prBullet>
          <a:buChar char="•">
            <a:pos y="0"/>
            <a:buClrTx/>
            <a:buSzTx/>
            <a:buFontTx/>
          </a:buChar>
        </p:prBullet>
        <a:tabLst/>
        <a:defRPr sz="20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p:prBullet>
          <a:buChar char="•">
            <a:pos y="0"/>
            <a:buClrTx/>
            <a:buSzTx/>
            <a:buFontTx/>
          </a:buChar>
        </p:prBullet>
        <a:tabLst/>
        <a:defRPr sz="20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p:prBullet>
          <a:buChar char="•">
            <a:pos y="0"/>
            <a:buClrTx/>
            <a:buSzTx/>
            <a:buFontTx/>
          </a:buChar>
        </p:prBullet>
        <a:tabLst/>
        <a:defRPr sz="20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p:prBullet>
          <a:buChar char="•">
            <a:pos y="0"/>
            <a:buClrTx/>
            <a:buSzTx/>
            <a:buFontTx/>
          </a:buChar>
        </p:prBullet>
        <a:tabLst/>
        <a:defRPr sz="20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49580">
        <a:hyphen val="0"/>
        <a:lnSpc>
          <a:spcPct val="100000"/>
        </a:lnSpc>
        <a:spcBef>
          <a:spcPts val="0"/>
        </a:spcBef>
        <a:spcAft>
          <a:spcPts val="0"/>
        </a:spcAft>
        <a:buNone/>
        <p:prBullet>
          <a:buNone/>
        </p:prBullet>
        <a:tabLst/>
        <a:defRPr sz="1800" b="0" i="0" u="none" strike="noStrike" kern="1" cap="none" spc="0" prSpc="50" pitch="50" baseline="0">
          <a:solidFill>
            <a:schemeClr val="tx1"/>
          </a:solidFill>
          <a:effectLst/>
          <a:txBgFill val="auto"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e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e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eg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eg"/></Relationships>
</file>

<file path=ppt/slides/_rels/slide2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eg"/></Relationships>
</file>

<file path=ppt/slides/_rels/slide2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jpeg"/></Relationships>
</file>

<file path=ppt/slides/_rels/slide4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jpeg"/></Relationships>
</file>

<file path=ppt/slides/_rels/slide4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jpeg"/></Relationships>
</file>

<file path=ppt/slides/_rels/slide4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1"/>
          <p:cNvSpPr txBox="1">
            <a:extLst>
              <a:ext uri="smNativeData">
                <pr:smNativeData xmlns:pr="smNativeData" xmlns="smNativeData" val="SMDATA_15_ky7iaRMAAAAlAAAAEg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8QUAAL4FAAAKMAAAzhMAAAAAAAAmAAAACAAAAP//////////"/>
              </a:ext>
            </a:extLst>
          </p:cNvSpPr>
          <p:nvPr/>
        </p:nvSpPr>
        <p:spPr>
          <a:xfrm>
            <a:off x="965835" y="933450"/>
            <a:ext cx="6843395" cy="228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 algn="ctr">
              <a:buNone/>
              <p:prBullet>
                <a:buNone/>
              </p:prBullet>
              <a:defRPr lang="en-us" sz="4800" cap="none">
                <a:solidFill>
                  <a:schemeClr val="bg1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4800" cap="none">
                <a:solidFill>
                  <a:schemeClr val="bg1"/>
                </a:solidFill>
              </a:defRPr>
            </a:pPr>
            <a:r>
              <a:t>Welcome!</a:t>
            </a:r>
          </a:p>
          <a:p>
            <a:pPr marL="0" indent="0" algn="ctr">
              <a:buNone/>
              <p:prBullet>
                <a:buNone/>
              </p:prBullet>
              <a:defRPr lang="en-us" sz="4800" cap="none">
                <a:solidFill>
                  <a:schemeClr val="bg1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3000" cap="none">
                <a:solidFill>
                  <a:schemeClr val="bg1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3000" cap="none">
                <a:solidFill>
                  <a:schemeClr val="bg1"/>
                </a:solidFill>
              </a:defRPr>
            </a:pPr>
            <a:r>
              <a:t>Your host today</a:t>
            </a:r>
          </a:p>
          <a:p>
            <a:pPr marL="0" indent="0" algn="ctr">
              <a:buNone/>
              <p:prBullet>
                <a:buNone/>
              </p:prBullet>
              <a:defRPr lang="en-us" sz="4000" cap="none">
                <a:solidFill>
                  <a:srgbClr val="F6AE2D"/>
                </a:solidFill>
              </a:defRPr>
            </a:pPr>
            <a:r>
              <a:t>Daniel Ironhack</a:t>
            </a:r>
          </a:p>
          <a:p>
            <a:pPr marL="0" indent="0" algn="ctr">
              <a:buNone/>
              <p:prBullet>
                <a:buNone/>
              </p:prBullet>
            </a:pPr>
            <a:r>
              <a:rPr lang="en-us" sz="4800" cap="none">
                <a:solidFill>
                  <a:schemeClr val="bg1"/>
                </a:solidFill>
              </a:rPr>
              <a:t> </a:t>
            </a:r>
            <a:endParaRPr lang="en-us" sz="4800" cap="none">
              <a:solidFill>
                <a:schemeClr val="bg1"/>
              </a:solidFill>
            </a:endParaRPr>
          </a:p>
          <a:p>
            <a:pPr marL="0" indent="0" algn="ctr">
              <a:buNone/>
              <p:prBullet>
                <a:buNone/>
              </p:prBullet>
              <a:defRPr lang="en-us" sz="4800" cap="none">
                <a:solidFill>
                  <a:schemeClr val="bg1"/>
                </a:solidFill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1"/>
          <p:cNvSpPr txBox="1">
            <a:extLst>
              <a:ext uri="smNativeData">
                <pr:smNativeData xmlns:pr="smNativeData" xmlns="smNativeData" val="SMDATA_15_ky7iaRMAAAAlAAAAEgAAAA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8QUAAL4FAAAKMAAAzhMAAAAAAAAmAAAACAAAAP//////////"/>
              </a:ext>
            </a:extLst>
          </p:cNvSpPr>
          <p:nvPr/>
        </p:nvSpPr>
        <p:spPr>
          <a:xfrm>
            <a:off x="965835" y="933450"/>
            <a:ext cx="6843395" cy="228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4800" b="1" cap="none">
                <a:solidFill>
                  <a:srgbClr val="FFFFFF"/>
                </a:solidFill>
              </a:rPr>
              <a:t>Multilingual</a:t>
            </a:r>
            <a:r>
              <a:rPr lang="en-us" sz="4800" cap="none">
                <a:solidFill>
                  <a:schemeClr val="bg1"/>
                </a:solidFill>
              </a:rPr>
              <a:t> Youtube Analyzer </a:t>
            </a:r>
            <a:endParaRPr lang="en-us" sz="4800" cap="none">
              <a:solidFill>
                <a:schemeClr val="bg1"/>
              </a:solidFill>
            </a:endParaRPr>
          </a:p>
          <a:p>
            <a:pPr marL="0" indent="0" algn="ctr">
              <a:buNone/>
              <p:prBullet>
                <a:buNone/>
              </p:prBullet>
            </a:pPr>
            <a:r>
              <a:rPr lang="en-us" sz="4800" cap="none">
                <a:solidFill>
                  <a:schemeClr val="bg1"/>
                </a:solidFill>
              </a:rPr>
              <a:t> </a:t>
            </a:r>
            <a:endParaRPr lang="en-us" sz="4800" cap="none">
              <a:solidFill>
                <a:schemeClr val="bg1"/>
              </a:solidFill>
            </a:endParaRPr>
          </a:p>
          <a:p>
            <a:pPr marL="0" indent="0" algn="ctr">
              <a:buNone/>
              <p:prBullet>
                <a:buNone/>
              </p:prBullet>
              <a:defRPr lang="en-us" sz="4800" cap="none">
                <a:solidFill>
                  <a:srgbClr val="F6AE2D"/>
                </a:solidFill>
              </a:defRPr>
            </a:pPr>
            <a:r>
              <a:t>Ease up your life</a:t>
            </a:r>
          </a:p>
          <a:p>
            <a:pPr marL="0" indent="0" algn="ctr">
              <a:buNone/>
              <p:prBullet>
                <a:buNone/>
              </p:prBullet>
              <a:defRPr lang="en-us" sz="4800" cap="none">
                <a:solidFill>
                  <a:schemeClr val="bg1"/>
                </a:solidFill>
              </a:defRPr>
            </a:pPr>
            <a:r>
              <a:t>RAG-System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gAAAA0AAAAAkAAAAEgAAACQAAAASAAAAAAAAAAAAAAAAAAAAAEAAABQAAAAAAAAAAAA8D8AAAAAAADwPwAAAAAAAOA/AAAAAAAA4D8AAAAAAADgPwAAAAAAAOA/AAAAAAAA4D8AAAAAAADgPwAAAAAAAOA/AAAAAAAA4D8CAAAAjAAAAAEAAAAAAAAALoarAP///whZ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BY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YPr//7ATAADgEAAAMCoAABAAAAAmAAAACAAAAP//////////"/>
              </a:ext>
            </a:extLst>
          </p:cNvSpPr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E86AB">
              <a:alpha val="11000"/>
            </a:srgbClr>
          </a:solidFill>
          <a:ln w="12700" cap="flat" cmpd="sng" algn="ctr">
            <a:solidFill>
              <a:srgbClr val="2E86AB">
                <a:alpha val="12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QAABUEAABQNAAAsAoAABAAAAAmAAAACAAAAP//////////"/>
              </a:ext>
            </a:extLst>
          </p:cNvSpPr>
          <p:nvPr/>
        </p:nvSpPr>
        <p:spPr>
          <a:xfrm>
            <a:off x="731520" y="663575"/>
            <a:ext cx="7772400" cy="10737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2500" b="1" cap="none"/>
            </a:pPr>
            <a:r>
              <a:rPr lang="en-us" cap="none">
                <a:solidFill>
                  <a:srgbClr val="F6AE2D"/>
                </a:solidFill>
              </a:rPr>
              <a:t>What does it do?</a:t>
            </a:r>
            <a:endParaRPr lang="en-us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QAALAKAABQNAAAwBgAABAAAAAmAAAACAAAAP//////////"/>
              </a:ext>
            </a:extLst>
          </p:cNvSpPr>
          <p:nvPr/>
        </p:nvSpPr>
        <p:spPr>
          <a:xfrm>
            <a:off x="731520" y="1737360"/>
            <a:ext cx="7772400" cy="228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4000" b="1" cap="none">
                <a:solidFill>
                  <a:srgbClr val="FFFFFF"/>
                </a:solidFill>
              </a:rPr>
              <a:t>Ask any question about the content —</a:t>
            </a:r>
            <a:endParaRPr lang="en-us" sz="4000" cap="none"/>
          </a:p>
          <a:p>
            <a:pPr marL="0" indent="0" algn="ctr">
              <a:buNone/>
              <p:prBullet>
                <a:buNone/>
              </p:prBullet>
              <a:defRPr lang="en-us" sz="4000" b="1" cap="none">
                <a:solidFill>
                  <a:schemeClr val="bg1"/>
                </a:solidFill>
              </a:defRPr>
            </a:pPr>
            <a:r>
              <a:t>The agent answers profoundly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gAAAA0AAAAAkAAAAEgAAACQAAAASAAAAAAAAAAAAAAAAAAAAAEAAABQAAAAAAAAAAAA8D8AAAAAAADwPwAAAAAAAOA/AAAAAAAA4D8AAAAAAADgPwAAAAAAAOA/AAAAAAAA4D8AAAAAAADgPwAAAAAAAOA/AAAAAAAA4D8CAAAAjAAAAAEAAAAAAAAALoarAP///whZ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BY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YPr//7ATAADgEAAAMCoAABAAAAAmAAAACAAAAP//////////"/>
              </a:ext>
            </a:extLst>
          </p:cNvSpPr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E86AB">
              <a:alpha val="11000"/>
            </a:srgbClr>
          </a:solidFill>
          <a:ln w="12700" cap="flat" cmpd="sng" algn="ctr">
            <a:solidFill>
              <a:srgbClr val="2E86AB">
                <a:alpha val="12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QAABUEAABQNAAAsAoAABAAAAAmAAAACAAAAP//////////"/>
              </a:ext>
            </a:extLst>
          </p:cNvSpPr>
          <p:nvPr/>
        </p:nvSpPr>
        <p:spPr>
          <a:xfrm>
            <a:off x="731520" y="663575"/>
            <a:ext cx="7772400" cy="10737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2500" b="1" cap="none"/>
            </a:pPr>
            <a:r>
              <a:rPr lang="en-us" cap="none">
                <a:solidFill>
                  <a:srgbClr val="F6AE2D"/>
                </a:solidFill>
              </a:rPr>
              <a:t>Which components do you need?</a:t>
            </a:r>
            <a:endParaRPr lang="en-us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QAALAKAABQNAAAwBgAABAAAAAmAAAACAAAAP//////////"/>
              </a:ext>
            </a:extLst>
          </p:cNvSpPr>
          <p:nvPr/>
        </p:nvSpPr>
        <p:spPr>
          <a:xfrm>
            <a:off x="731520" y="1737360"/>
            <a:ext cx="7772400" cy="228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4000" b="1" cap="none">
                <a:solidFill>
                  <a:srgbClr val="FFFFFF"/>
                </a:solidFill>
              </a:defRPr>
            </a:pPr>
            <a:r>
              <a:t>We provide deep Analysis and Insights for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800" cap="none">
                <a:solidFill>
                  <a:schemeClr val="bg1"/>
                </a:solidFill>
              </a:defRPr>
            </a:pPr>
            <a:r>
              <a:rPr lang="en-us" b="1" cap="none"/>
              <a:t>RAG Pipeline</a:t>
            </a:r>
            <a:endParaRPr lang="en-us" cap="none"/>
          </a:p>
        </p:txBody>
      </p:sp>
      <p:sp>
        <p:nvSpPr>
          <p:cNvPr id="3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4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cblmx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P0AAAAuCgAAWDcAAGo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0655" y="1654810"/>
            <a:ext cx="8836025" cy="32893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800" cap="none">
                <a:solidFill>
                  <a:srgbClr val="FFFFFF"/>
                </a:solidFill>
              </a:defRPr>
            </a:pPr>
            <a:r>
              <a:rPr lang="en-us" b="1" cap="none"/>
              <a:t>Benchmark Pipeline</a:t>
            </a:r>
            <a:endParaRPr lang="en-us" cap="none"/>
          </a:p>
        </p:txBody>
      </p:sp>
      <p:sp>
        <p:nvSpPr>
          <p:cNvPr id="3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4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AUnU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CQBAABcCgAAMDcAAH0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" y="1684020"/>
            <a:ext cx="8785860" cy="32721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wIAALECAABDNgAACQcAABAAAAAmAAAACAAAAP//////////"/>
              </a:ext>
            </a:extLst>
          </p:cNvSpPr>
          <p:nvPr/>
        </p:nvSpPr>
        <p:spPr>
          <a:xfrm>
            <a:off x="408305" y="437515"/>
            <a:ext cx="8412480" cy="706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000" cap="none">
                <a:solidFill>
                  <a:srgbClr val="FFFFFF"/>
                </a:solidFill>
              </a:defRPr>
            </a:pPr>
            <a:r>
              <a:rPr lang="en-us" b="1" cap="none"/>
              <a:t>Benchmarking</a:t>
            </a:r>
            <a:endParaRPr lang="en-us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dQIAAGIIAAA1NgAAUgwAABAAAAAmAAAACAAAAP//////////"/>
              </a:ext>
            </a:extLst>
          </p:cNvSpPr>
          <p:nvPr/>
        </p:nvSpPr>
        <p:spPr>
          <a:xfrm>
            <a:off x="399415" y="136271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FFFFFF"/>
                </a:solidFill>
              </a:defRPr>
            </a:pPr>
            <a:r>
              <a:t>Whisper Models</a:t>
            </a:r>
          </a:p>
        </p:txBody>
      </p:sp>
      <p:sp>
        <p:nvSpPr>
          <p:cNvPr id="5" name="Rechteck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lgIAAP8NAABWNgAA7xEAABAAAAAmAAAACAAAAP//////////"/>
              </a:ext>
            </a:extLst>
          </p:cNvSpPr>
          <p:nvPr/>
        </p:nvSpPr>
        <p:spPr>
          <a:xfrm>
            <a:off x="420370" y="2275205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FFFFFF"/>
                </a:solidFill>
              </a:defRPr>
            </a:pPr>
            <a:r>
              <a:rPr lang="en-us" cap="none"/>
              <a:t>Audio Bitrate</a:t>
            </a:r>
            <a:endParaRPr lang="en-us" cap="none"/>
          </a:p>
        </p:txBody>
      </p:sp>
      <p:sp>
        <p:nvSpPr>
          <p:cNvPr id="6" name="Rechteck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ngIAAJwTAABeNgAAjBcAABAAAAAmAAAACAAAAP//////////"/>
              </a:ext>
            </a:extLst>
          </p:cNvSpPr>
          <p:nvPr/>
        </p:nvSpPr>
        <p:spPr>
          <a:xfrm>
            <a:off x="425450" y="318770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FFFFFF"/>
                </a:solidFill>
              </a:defRPr>
            </a:pPr>
            <a:r>
              <a:t>Embedding Models</a:t>
            </a:r>
          </a:p>
        </p:txBody>
      </p:sp>
      <p:sp>
        <p:nvSpPr>
          <p:cNvPr id="7" name="Rechteck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AIAALEZAACANgAAoR0AABAAAAAmAAAACAAAAP//////////"/>
              </a:ext>
            </a:extLst>
          </p:cNvSpPr>
          <p:nvPr/>
        </p:nvSpPr>
        <p:spPr>
          <a:xfrm>
            <a:off x="447040" y="4176395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FFFFFF"/>
                </a:solidFill>
              </a:defRPr>
            </a:pPr>
            <a:r>
              <a:t>Large Language Models Costs and Judge 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wIAALECAABDNgAACQcAABAAAAAmAAAACAAAAP//////////"/>
              </a:ext>
            </a:extLst>
          </p:cNvSpPr>
          <p:nvPr/>
        </p:nvSpPr>
        <p:spPr>
          <a:xfrm>
            <a:off x="408305" y="437515"/>
            <a:ext cx="8412480" cy="706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000" cap="none">
                <a:solidFill>
                  <a:srgbClr val="FFFFFF"/>
                </a:solidFill>
              </a:defRPr>
            </a:pPr>
            <a:r>
              <a:rPr lang="en-us" b="1" cap="none"/>
              <a:t>Benchmarking</a:t>
            </a:r>
            <a:r>
              <a:rPr lang="en-us" cap="none"/>
              <a:t> 2</a:t>
            </a:r>
            <a:endParaRPr lang="en-us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dQIAAGIIAAA1NgAAUgwAABAAAAAmAAAACAAAAP//////////"/>
              </a:ext>
            </a:extLst>
          </p:cNvSpPr>
          <p:nvPr/>
        </p:nvSpPr>
        <p:spPr>
          <a:xfrm>
            <a:off x="399415" y="136271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FFFFFF"/>
                </a:solidFill>
              </a:defRPr>
            </a:pPr>
            <a:r>
              <a:t>RAG System vs no RAG</a:t>
            </a:r>
          </a:p>
        </p:txBody>
      </p:sp>
      <p:sp>
        <p:nvSpPr>
          <p:cNvPr id="5" name="Rechteck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lgIAAP8NAABWNgAA7xEAABAAAAAmAAAACAAAAP//////////"/>
              </a:ext>
            </a:extLst>
          </p:cNvSpPr>
          <p:nvPr/>
        </p:nvSpPr>
        <p:spPr>
          <a:xfrm>
            <a:off x="420370" y="2275205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FFFFFF"/>
                </a:solidFill>
              </a:defRPr>
            </a:pPr>
            <a:r>
              <a:t>Chunk size Grid Test</a:t>
            </a:r>
          </a:p>
        </p:txBody>
      </p:sp>
      <p:sp>
        <p:nvSpPr>
          <p:cNvPr id="6" name="Rechteck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ngIAAJwTAABeNgAAjBcAABAAAAAmAAAACAAAAP//////////"/>
              </a:ext>
            </a:extLst>
          </p:cNvSpPr>
          <p:nvPr/>
        </p:nvSpPr>
        <p:spPr>
          <a:xfrm>
            <a:off x="425450" y="318770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FFFFFF"/>
                </a:solidFill>
              </a:defRPr>
            </a:pPr>
            <a:r>
              <a:t>Full Matrix Test</a:t>
            </a:r>
          </a:p>
        </p:txBody>
      </p:sp>
      <p:sp>
        <p:nvSpPr>
          <p:cNvPr id="7" name="Rechteck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AIAALEZAACANgAAoR0AABAAAAAmAAAACAAAAP//////////"/>
              </a:ext>
            </a:extLst>
          </p:cNvSpPr>
          <p:nvPr/>
        </p:nvSpPr>
        <p:spPr>
          <a:xfrm>
            <a:off x="447040" y="4176395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FFFFFF"/>
                </a:solidFill>
              </a:defRPr>
            </a:pPr>
            <a:r>
              <a:t>Stress Tests Whisper Abilities: Rap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aAIAAHoFAAAoNgAAWg0AABAAAAAmAAAACAAAAP//////////"/>
              </a:ext>
            </a:extLst>
          </p:cNvSpPr>
          <p:nvPr/>
        </p:nvSpPr>
        <p:spPr>
          <a:xfrm>
            <a:off x="391160" y="89027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FFFFFF"/>
                </a:solidFill>
              </a:defRPr>
            </a:pPr>
            <a:r>
              <a:rPr lang="en-us" sz="3800" b="1" cap="none"/>
              <a:t>Whisper Model Sizes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uGL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cap="none"/>
              <a:t>Which model gives the best quality vs. cost trade-off?</a:t>
            </a:r>
            <a:endParaRPr lang="en-us" cap="none"/>
          </a:p>
          <a:p>
            <a:pPr marL="0" indent="0" algn="ctr">
              <a:buNone/>
              <p:prBullet>
                <a:buNone/>
              </p:prBullet>
              <a:defRPr lang="en-us" b="1" cap="none">
                <a:solidFill>
                  <a:srgbClr val="000000"/>
                </a:solidFill>
              </a:defRPr>
            </a:pPr>
            <a:r>
              <a:t>Tracing Costs via Langsmith and WER score (Errors)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FFFFFF"/>
                </a:solidFill>
              </a:defRPr>
            </a:pPr>
            <a:r>
              <a:rPr lang="en-us" sz="3000" b="1" cap="none"/>
              <a:t> Short Video</a:t>
            </a:r>
            <a:endParaRPr lang="en-us" sz="3000" cap="none"/>
          </a:p>
        </p:txBody>
      </p:sp>
      <p:sp>
        <p:nvSpPr>
          <p:cNvPr id="3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4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QA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ADY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0175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vgIAADQbAAC4NQAA7h4AABAAAAAmAAAACAAAAP//////////"/>
              </a:ext>
            </a:extLst>
          </p:cNvSpPr>
          <p:nvPr/>
        </p:nvSpPr>
        <p:spPr>
          <a:xfrm>
            <a:off x="445770" y="4422140"/>
            <a:ext cx="8286750" cy="6057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1300" cap="none">
                <a:solidFill>
                  <a:srgbClr val="1C2B3A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1300" b="1" u="sng" cap="none">
                <a:solidFill>
                  <a:srgbClr val="1C2B3A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1300" b="1" u="sng" cap="none">
                <a:solidFill>
                  <a:srgbClr val="000000"/>
                </a:solidFill>
              </a:defRPr>
            </a:pPr>
            <a:r>
              <a:t>Business Choice</a:t>
            </a:r>
          </a:p>
          <a:p>
            <a:pPr marL="0" indent="0" algn="ctr">
              <a:buNone/>
              <p:prBullet>
                <a:buNone/>
              </p:prBullet>
              <a:defRPr lang="en-us" sz="1300" cap="none">
                <a:solidFill>
                  <a:srgbClr val="000000"/>
                </a:solidFill>
              </a:defRPr>
            </a:pPr>
            <a:r>
              <a:t>Whisper API provides best WER and fastest Transcription causing higher costs</a:t>
            </a:r>
          </a:p>
          <a:p>
            <a:pPr marL="0" indent="0" algn="ctr">
              <a:buNone/>
              <p:prBullet>
                <a:buNone/>
              </p:prBullet>
              <a:defRPr sz="1300" cap="none">
                <a:solidFill>
                  <a:srgbClr val="000000"/>
                </a:solidFill>
              </a:defRPr>
            </a:pPr>
            <a:r>
              <a:rPr lang="en-us" cap="none"/>
              <a:t>Whisper-small provides best balance of WER and speed for short clips</a:t>
            </a:r>
            <a:endParaRPr lang="en-us" cap="none"/>
          </a:p>
          <a:p>
            <a:pPr marL="0" indent="0" algn="ctr">
              <a:buNone/>
              <p:prBullet>
                <a:buNone/>
              </p:prBullet>
              <a:defRPr lang="en-us" sz="1300" cap="none">
                <a:solidFill>
                  <a:srgbClr val="1C2B3A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1300" cap="none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000" b="1" cap="none"/>
              <a:t>Medium Video</a:t>
            </a:r>
            <a:endParaRPr lang="en-us" sz="30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FgFAABwNQAAmAcAABAAAAAmAAAACAAAAP//////////"/>
              </a:ext>
            </a:extLst>
          </p:cNvSpPr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sz="1500" cap="none"/>
              <a:t>Transcription quality, speed and cost</a:t>
            </a:r>
            <a:endParaRPr lang="en-us" sz="15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ADY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0175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MAAA0bAAC4NQAAMB8AABAAAAAmAAAACAAAAP//////////"/>
              </a:ext>
            </a:extLst>
          </p:cNvSpPr>
          <p:nvPr/>
        </p:nvSpPr>
        <p:spPr>
          <a:xfrm>
            <a:off x="502920" y="4397375"/>
            <a:ext cx="8229600" cy="672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1300" b="1" u="sng" cap="none">
                <a:solidFill>
                  <a:srgbClr val="1C2B3A"/>
                </a:solidFill>
              </a:defRPr>
            </a:pPr>
            <a:r>
              <a:t>Business Choice</a:t>
            </a:r>
          </a:p>
          <a:p>
            <a:pPr marL="0" indent="0" algn="ctr">
              <a:buNone/>
              <p:prBullet>
                <a:buNone/>
              </p:prBullet>
              <a:defRPr sz="1300" cap="none"/>
            </a:pPr>
            <a:r>
              <a:rPr lang="en-us" cap="none">
                <a:solidFill>
                  <a:srgbClr val="1C2B3A"/>
                </a:solidFill>
              </a:rPr>
              <a:t>Whisper-small provides best balance of WER and speed for medium clips</a:t>
            </a:r>
            <a:endParaRPr lang="en-us" cap="none">
              <a:solidFill>
                <a:srgbClr val="1C2B3A"/>
              </a:solidFill>
            </a:endParaRPr>
          </a:p>
          <a:p>
            <a:pPr marL="0" indent="0" algn="ctr">
              <a:buNone/>
              <p:prBullet>
                <a:buNone/>
              </p:prBullet>
              <a:defRPr lang="en-us" sz="1300" cap="none">
                <a:solidFill>
                  <a:srgbClr val="1C2B3A"/>
                </a:solidFill>
              </a:defRPr>
            </a:pPr>
            <a:r>
              <a:t>Whisper medium and Whisper API remain good choices with constraints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000" b="1" cap="none"/>
              <a:t>Long Video</a:t>
            </a:r>
            <a:endParaRPr lang="en-us" sz="30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FgFAABwNQAAmAcAABAAAAAmAAAACAAAAP//////////"/>
              </a:ext>
            </a:extLst>
          </p:cNvSpPr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sz="1500" cap="none"/>
              <a:t>Transcription quality, speed and cost</a:t>
            </a:r>
            <a:endParaRPr lang="en-us" sz="15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ADY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0175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MAAEIbAAC4NQAAIx8AABAAAAAmAAAACAAAAP//////////"/>
              </a:ext>
            </a:extLst>
          </p:cNvSpPr>
          <p:nvPr/>
        </p:nvSpPr>
        <p:spPr>
          <a:xfrm>
            <a:off x="502920" y="4431030"/>
            <a:ext cx="8229600" cy="6305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1300" b="1" u="sng" cap="none">
                <a:solidFill>
                  <a:srgbClr val="1C2B3A"/>
                </a:solidFill>
              </a:defRPr>
            </a:pPr>
            <a:r>
              <a:t>Business Choice</a:t>
            </a:r>
          </a:p>
          <a:p>
            <a:pPr marL="0" indent="0" algn="ctr">
              <a:buNone/>
              <p:prBullet>
                <a:buNone/>
              </p:prBullet>
              <a:defRPr sz="1300" cap="none"/>
            </a:pPr>
            <a:r>
              <a:rPr lang="en-us" cap="none">
                <a:solidFill>
                  <a:srgbClr val="1C2B3A"/>
                </a:solidFill>
              </a:rPr>
              <a:t>Whisper-small provides best balance of WER and speed even for long clips.</a:t>
            </a:r>
            <a:endParaRPr lang="en-us" cap="none">
              <a:solidFill>
                <a:srgbClr val="1C2B3A"/>
              </a:solidFill>
            </a:endParaRPr>
          </a:p>
          <a:p>
            <a:pPr marL="0" indent="0" algn="ctr">
              <a:buNone/>
              <p:prBullet>
                <a:buNone/>
              </p:prBullet>
            </a:pPr>
            <a:r>
              <a:rPr lang="en-us" sz="1300" cap="none">
                <a:solidFill>
                  <a:srgbClr val="1C2B3A"/>
                </a:solidFill>
              </a:rPr>
              <a:t>Local, smaller versions tend to perform even better on longer videos .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chemeClr val="bg1"/>
                </a:solidFill>
              </a:defRPr>
            </a:pPr>
            <a:r>
              <a:rPr lang="en-us" sz="3000" b="1" cap="none"/>
              <a:t>Whisper-small the Allrounder</a:t>
            </a:r>
            <a:endParaRPr lang="en-us" sz="3000" b="1" cap="none"/>
          </a:p>
        </p:txBody>
      </p:sp>
      <p:sp>
        <p:nvSpPr>
          <p:cNvPr id="3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4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AUnU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ADY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0175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MAAK0bAAC4NQAANR4AABAAAAAmAAAACAAAAP//////////"/>
              </a:ext>
            </a:extLst>
          </p:cNvSpPr>
          <p:nvPr/>
        </p:nvSpPr>
        <p:spPr>
          <a:xfrm>
            <a:off x="502920" y="4498975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/>
            </a:pPr>
            <a:r>
              <a:rPr lang="en-us" sz="1300" cap="none">
                <a:solidFill>
                  <a:srgbClr val="1C2B3A"/>
                </a:solidFill>
              </a:rPr>
              <a:t>Business Sweet Spot: Whisper-small — WER 2.40% at $0.00097/run. API for production.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cBEAABAAAAAmAAAACAAAAP//////////"/>
              </a:ext>
            </a:extLst>
          </p:cNvSpPr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800" b="1" cap="none"/>
              <a:t>Audio Bitrate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cap="none"/>
              <a:t>Does compression quality matter for transcription?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3000" b="1" cap="none">
                <a:solidFill>
                  <a:srgbClr val="1C2B3A"/>
                </a:solidFill>
              </a:rPr>
              <a:t>Audio Bitrate vs. WER</a:t>
            </a:r>
            <a:endParaRPr lang="en-us" sz="3000" cap="none"/>
          </a:p>
        </p:txBody>
      </p:sp>
      <p:sp>
        <p:nvSpPr>
          <p:cNvPr id="3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4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AUnU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ADY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0175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MAAK0bAAC4NQAANR4AABAAAAAmAAAACAAAAP//////////"/>
              </a:ext>
            </a:extLst>
          </p:cNvSpPr>
          <p:nvPr/>
        </p:nvSpPr>
        <p:spPr>
          <a:xfrm>
            <a:off x="502920" y="4498975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300" cap="none">
                <a:solidFill>
                  <a:srgbClr val="1C2B3A"/>
                </a:solidFill>
              </a:rPr>
              <a:t>64 kbps = sweet spot. Near-identical WER to 128 kbps at half the file size, even 32 kbps delivers.</a:t>
            </a:r>
            <a:endParaRPr lang="en-us" sz="1300" cap="none">
              <a:solidFill>
                <a:srgbClr val="1C2B3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cBEAABAAAAAmAAAACAAAAP//////////"/>
              </a:ext>
            </a:extLst>
          </p:cNvSpPr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800" b="1" cap="none"/>
              <a:t>Embedding Models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cap="none"/>
              <a:t>Which embedding model retrieves best?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3000" b="1" cap="none">
                <a:solidFill>
                  <a:srgbClr val="1C2B3A"/>
                </a:solidFill>
              </a:rPr>
              <a:t>Embedding Model Comparison</a:t>
            </a:r>
            <a:endParaRPr lang="en-us" sz="30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FgFAABwNQAAmAcAABAAAAAmAAAACAAAAP//////////"/>
              </a:ext>
            </a:extLst>
          </p:cNvSpPr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500" cap="none">
                <a:solidFill>
                  <a:srgbClr val="6B7A8D"/>
                </a:solidFill>
              </a:rPr>
              <a:t>MRR @5 and Hit-Rate @5 — OpenAI vs HuggingFace</a:t>
            </a:r>
            <a:endParaRPr lang="en-us" sz="15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ADY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0175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MAAK0bAAC4NQAANR4AABAAAAAmAAAACAAAAP//////////"/>
              </a:ext>
            </a:extLst>
          </p:cNvSpPr>
          <p:nvPr/>
        </p:nvSpPr>
        <p:spPr>
          <a:xfrm>
            <a:off x="502920" y="4498975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sz="1300" b="1" cap="none">
                <a:solidFill>
                  <a:srgbClr val="1C2B3A"/>
                </a:solidFill>
              </a:defRPr>
            </a:pPr>
            <a:r>
              <a:t>"MRR is a great way to capture the positive user experience: It rewards systems that deliver exactly what the user is looking for—instantly."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cBEAABAAAAAmAAAACAAAAP//////////"/>
              </a:ext>
            </a:extLst>
          </p:cNvSpPr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800" b="1" cap="none"/>
              <a:t>LLM Comparison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cap="none"/>
              <a:t>Quality, speed and costs — which model wins?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000" b="1" cap="none"/>
              <a:t>LLM: Quality, Latency &amp; Cost</a:t>
            </a:r>
            <a:endParaRPr lang="en-us" sz="30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FgFAABwNQAAmAcAABAAAAAmAAAACAAAAP//////////"/>
              </a:ext>
            </a:extLst>
          </p:cNvSpPr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sz="1500" cap="none"/>
              <a:t>5 models, 10 eval questions</a:t>
            </a:r>
            <a:endParaRPr lang="en-us" sz="15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ADY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0175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MAAK0bAAC4NQAANR4AABAAAAAmAAAACAAAAP//////////"/>
              </a:ext>
            </a:extLst>
          </p:cNvSpPr>
          <p:nvPr/>
        </p:nvSpPr>
        <p:spPr>
          <a:xfrm>
            <a:off x="502920" y="4498975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/>
            </a:pPr>
            <a:r>
              <a:rPr lang="en-us" sz="1300" cap="none">
                <a:solidFill>
                  <a:srgbClr val="1C2B3A"/>
                </a:solidFill>
              </a:rPr>
              <a:t>gpt-4o-mini: score 5.0, latency 1.2s, $0.00154. HF Llama: FREE &amp; 0.5s — great for free tier.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cBEAABAAAAAmAAAACAAAAP//////////"/>
              </a:ext>
            </a:extLst>
          </p:cNvSpPr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800" b="1" cap="none"/>
              <a:t>RAG vs. No-RAG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cap="none"/>
              <a:t>Does retrieval actually matter?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000" b="1" cap="none"/>
              <a:t>RAG is quality - Lifts Accuracy to 100%</a:t>
            </a:r>
            <a:endParaRPr lang="en-us" sz="3000" cap="none"/>
          </a:p>
        </p:txBody>
      </p:sp>
      <p:sp>
        <p:nvSpPr>
          <p:cNvPr id="3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pic>
        <p:nvPicPr>
          <p:cNvPr id="4" name="Image 0" descr="preencoded.png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+PGE6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EACAAAoCAAA0CYAAJgZ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5943600" cy="28346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hape 3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cZTAP///whZAAAAAAAAAAAAAAAAAAAAAAAAAAAAAAAAAAAAeAAAAAEAAABAAAAAAAAAAAAAAABaAAAAAAAAAAAAAAAAAAAAAAAAAAAAAAAAAAAAAAAAAAAAAAAAAAAAAAAAAAAAAAAAAAAAAAAAAAAAAAAAAAAAAAAAAAAAAAAAAAAAFAAAADwAAAABAAAAAAAAAC3GU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cZTAP///wEAAAAAAAAAAAAAAAAAAAAAAAAAAAAAAAAAAAAAAAAAAC3GUwB/f38AgICAA8zMzADAwP8Af39/AAAAAAAAAAAAAAAAAAAAAAAAAAAAIQAAABgAAAAUAAAA8CcAACgIAAAANgAACBAAABAAAAAmAAAACAAAAP//////////"/>
              </a:ext>
            </a:extLst>
          </p:cNvSpPr>
          <p:nvPr/>
        </p:nvSpPr>
        <p:spPr>
          <a:xfrm>
            <a:off x="6492240" y="1325880"/>
            <a:ext cx="2286000" cy="1280160"/>
          </a:xfrm>
          <a:prstGeom prst="rect">
            <a:avLst/>
          </a:prstGeom>
          <a:solidFill>
            <a:srgbClr val="2DC653">
              <a:alpha val="11000"/>
            </a:srgbClr>
          </a:solidFill>
          <a:ln w="12700" cap="flat" cmpd="sng" algn="ctr">
            <a:solidFill>
              <a:srgbClr val="2DC653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CcAAHAIAAAANgAAgA0AABAAAAAmAAAACAAAAP//////////"/>
              </a:ext>
            </a:extLst>
          </p:cNvSpPr>
          <p:nvPr/>
        </p:nvSpPr>
        <p:spPr>
          <a:xfrm>
            <a:off x="6492240" y="1371600"/>
            <a:ext cx="22860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5200" b="1" cap="none">
                <a:solidFill>
                  <a:srgbClr val="26A646"/>
                </a:solidFill>
              </a:rPr>
              <a:t>100%</a:t>
            </a:r>
            <a:endParaRPr lang="en-us" sz="52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CcAADgNAAAANgAAUBAAABAAAAAmAAAACAAAAP//////////"/>
              </a:ext>
            </a:extLst>
          </p:cNvSpPr>
          <p:nvPr/>
        </p:nvSpPr>
        <p:spPr>
          <a:xfrm>
            <a:off x="6492240" y="2148840"/>
            <a:ext cx="22860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sz="1300" cap="none"/>
              <a:t>Accuracy</a:t>
            </a:r>
            <a:endParaRPr lang="en-us" sz="1300" cap="none"/>
          </a:p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sz="1300" cap="none"/>
              <a:t>with RAG</a:t>
            </a:r>
            <a:endParaRPr lang="en-us" sz="13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5jlGAP///whZAAAAAAAAAAAAAAAAAAAAAAAAAAAAAAAAAAAAeAAAAAEAAABAAAAAAAAAAAAAAABaAAAAAAAAAAAAAAAAAAAAAAAAAAAAAAAAAAAAAAAAAAAAAAAAAAAAAAAAAAAAAAAAAAAAAAAAAAAAAAAAAAAAAAAAAAAAAAAAAAAAFAAAADwAAAABAAAAAAAAAOY5Rg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5jlGAP///wEAAAAAAAAAAAAAAAAAAAAAAAAAAAAAAAAAAAAAAAAAAOY5RgB/f38AgICAA8zMzADAwP8Af39/AAAAAAAAAAAAAAAAAAAAAAAAAAAAIQAAABgAAAAUAAAA8CcAACgRAAAANgAACBkAABAAAAAmAAAACAAAAP//////////"/>
              </a:ext>
            </a:extLst>
          </p:cNvSpPr>
          <p:nvPr/>
        </p:nvSpPr>
        <p:spPr>
          <a:xfrm>
            <a:off x="6492240" y="2788920"/>
            <a:ext cx="2286000" cy="1280160"/>
          </a:xfrm>
          <a:prstGeom prst="rect">
            <a:avLst/>
          </a:prstGeom>
          <a:solidFill>
            <a:srgbClr val="E63946">
              <a:alpha val="11000"/>
            </a:srgbClr>
          </a:solidFill>
          <a:ln w="12700" cap="flat" cmpd="sng" algn="ctr">
            <a:solidFill>
              <a:srgbClr val="E63946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CcAAHARAAAANgAAgBYAABAAAAAmAAAACAAAAP//////////"/>
              </a:ext>
            </a:extLst>
          </p:cNvSpPr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3600" b="1" cap="none">
                <a:solidFill>
                  <a:srgbClr val="E63946"/>
                </a:solidFill>
              </a:rPr>
              <a:t>20–70%</a:t>
            </a:r>
            <a:endParaRPr lang="en-us" sz="36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CcAADgWAAAANgAAUBkAABAAAAAmAAAACAAAAP//////////"/>
              </a:ext>
            </a:extLst>
          </p:cNvSpPr>
          <p:nvPr/>
        </p:nvSpPr>
        <p:spPr>
          <a:xfrm>
            <a:off x="6492240" y="3611880"/>
            <a:ext cx="22860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sz="1300" cap="none"/>
              <a:t>Accuracy</a:t>
            </a:r>
            <a:endParaRPr lang="en-us" sz="1300" cap="none"/>
          </a:p>
          <a:p>
            <a:pPr marL="0" indent="0" algn="ctr">
              <a:buNone/>
              <p:prBullet>
                <a:buNone/>
              </p:prBullet>
              <a:defRPr cap="none">
                <a:solidFill>
                  <a:srgbClr val="000000"/>
                </a:solidFill>
              </a:defRPr>
            </a:pPr>
            <a:r>
              <a:rPr lang="en-us" sz="1300" cap="none"/>
              <a:t>without RAG</a:t>
            </a:r>
            <a:endParaRPr lang="en-us" sz="1300" cap="none"/>
          </a:p>
        </p:txBody>
      </p:sp>
      <p:sp>
        <p:nvSpPr>
          <p:cNvPr id="11" name="Text 1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GAMAAKoaAAC4NQAAMh0AABAAAAAmAAAACAAAAP//////////"/>
              </a:ext>
            </a:extLst>
          </p:cNvSpPr>
          <p:nvPr/>
        </p:nvSpPr>
        <p:spPr>
          <a:xfrm>
            <a:off x="502920" y="4334510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/>
            </a:pPr>
            <a:r>
              <a:rPr lang="en-us" sz="1300" cap="none">
                <a:solidFill>
                  <a:srgbClr val="1C2B3A"/>
                </a:solidFill>
              </a:rPr>
              <a:t>Retrieval is non-negotiable for factual video Q&amp;A. RAG lifts accuracy.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000" b="1" cap="none"/>
              <a:t>Why RAG? </a:t>
            </a:r>
            <a:endParaRPr lang="en-us" sz="3000" b="1" cap="none"/>
          </a:p>
        </p:txBody>
      </p:sp>
      <p:sp>
        <p:nvSpPr>
          <p:cNvPr id="3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Rechteck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jQIAAHwLAAAtNQAA+xUAABAAAAAmAAAACAAAAP//////////"/>
              </a:ext>
            </a:extLst>
          </p:cNvSpPr>
          <p:nvPr/>
        </p:nvSpPr>
        <p:spPr>
          <a:xfrm>
            <a:off x="414655" y="1866900"/>
            <a:ext cx="8229600" cy="17062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3000" b="1" cap="none">
                <a:solidFill>
                  <a:srgbClr val="E6E6E6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3000" b="1" cap="none">
                <a:solidFill>
                  <a:srgbClr val="E6E6E6"/>
                </a:solidFill>
              </a:defRPr>
            </a:pPr>
            <a:r>
              <a:t>The time for cost expensive Training, Data Providence or Fine Tuning...</a:t>
            </a:r>
          </a:p>
          <a:p>
            <a:pPr marL="0" indent="0" algn="ctr">
              <a:buNone/>
              <p:prBullet>
                <a:buNone/>
              </p:prBullet>
              <a:defRPr lang="en-us" sz="3000" b="1" cap="none">
                <a:solidFill>
                  <a:srgbClr val="E6E6E6"/>
                </a:solidFill>
              </a:defRPr>
            </a:pPr>
            <a:r>
              <a:t>...is up!</a:t>
            </a:r>
          </a:p>
          <a:p>
            <a:pPr marL="0" indent="0" algn="ctr">
              <a:buNone/>
              <p:prBullet>
                <a:buNone/>
              </p:prBullet>
              <a:defRPr lang="en-us" sz="3000" b="1" cap="none">
                <a:solidFill>
                  <a:srgbClr val="E6E6E6"/>
                </a:solidFill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Rechteck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jQIAADQDAACINQAAuRsAABAAAAAmAAAACAAAAP//////////"/>
              </a:ext>
            </a:extLst>
          </p:cNvSpPr>
          <p:nvPr/>
        </p:nvSpPr>
        <p:spPr>
          <a:xfrm>
            <a:off x="414655" y="520700"/>
            <a:ext cx="8287385" cy="39858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sz="3000" b="1" cap="none">
                <a:solidFill>
                  <a:srgbClr val="E6E6E6"/>
                </a:solidFill>
              </a:defRPr>
            </a:pPr>
            <a:r>
              <a:rPr lang="en-us" u="sng"/>
              <a:t>Core Value:</a:t>
            </a:r>
            <a:br/>
            <a:br/>
            <a:r>
              <a:t>Uses up-to-date, external, or private data</a:t>
            </a:r>
            <a:br/>
            <a:r>
              <a:t>Reduces hallucinations,</a:t>
            </a:r>
            <a:br/>
            <a:r>
              <a:t>Provides grounded, source-based answers</a:t>
            </a:r>
          </a:p>
          <a:p>
            <a:pPr marL="0" indent="0" algn="ctr">
              <a:buNone/>
              <p:prBullet>
                <a:buNone/>
              </p:prBullet>
              <a:defRPr lang="en-us" sz="3000" b="1" cap="none">
                <a:solidFill>
                  <a:srgbClr val="E6E6E6"/>
                </a:solidFill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cBEAABAAAAAmAAAACAAAAP//////////"/>
              </a:ext>
            </a:extLst>
          </p:cNvSpPr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chemeClr val="bg1"/>
                </a:solidFill>
              </a:defRPr>
            </a:pPr>
            <a:r>
              <a:rPr lang="en-us" sz="3800" b="1" cap="none"/>
              <a:t>Chunk-Size Grid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cap="none"/>
              <a:t>What's the optimal chunk size for retrieval and precise Answers by the Agent?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IAALABAABwNQAAYQUAABAAAAAmAAAACAAAAP//////////"/>
              </a:ext>
            </a:extLst>
          </p:cNvSpPr>
          <p:nvPr/>
        </p:nvSpPr>
        <p:spPr>
          <a:xfrm>
            <a:off x="457200" y="274320"/>
            <a:ext cx="822960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400" cap="none">
                <a:solidFill>
                  <a:schemeClr val="bg1"/>
                </a:solidFill>
              </a:defRPr>
            </a:pPr>
            <a:r>
              <a:rPr lang="en-us" b="1" cap="none"/>
              <a:t>Chunk-Size: Short Videos (~5 min)</a:t>
            </a:r>
            <a:endParaRPr lang="en-us" b="1" cap="none"/>
          </a:p>
        </p:txBody>
      </p:sp>
      <p:sp>
        <p:nvSpPr>
          <p:cNvPr id="3" name="Sub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IAAGEFAABwNQAAtwcAABAAAAAmAAAACAAAAP//////////"/>
              </a:ext>
            </a:extLst>
          </p:cNvSpPr>
          <p:nvPr/>
        </p:nvSpPr>
        <p:spPr>
          <a:xfrm>
            <a:off x="457200" y="874395"/>
            <a:ext cx="8229600" cy="3797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2200" cap="none">
                <a:solidFill>
                  <a:srgbClr val="AAAAAA"/>
                </a:solidFill>
              </a:rPr>
              <a:t>MRR@5 by Chunk Size × Whisper Model</a:t>
            </a:r>
            <a:endParaRPr lang="en-us" sz="2200" cap="none">
              <a:solidFill>
                <a:srgbClr val="AAAAAA"/>
              </a:solidFill>
            </a:endParaRPr>
          </a:p>
        </p:txBody>
      </p:sp>
      <p:pic>
        <p:nvPicPr>
          <p:cNvPr id="4" name="Matrix Image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GgBAAAPCAAA2DYAAJc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10005"/>
            <a:ext cx="8686800" cy="35001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IAALABAABwNQAAYQUAABAAAAAmAAAACAAAAP//////////"/>
              </a:ext>
            </a:extLst>
          </p:cNvSpPr>
          <p:nvPr/>
        </p:nvSpPr>
        <p:spPr>
          <a:xfrm>
            <a:off x="457200" y="274320"/>
            <a:ext cx="822960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400" cap="none">
                <a:solidFill>
                  <a:schemeClr val="bg1"/>
                </a:solidFill>
              </a:defRPr>
            </a:pPr>
            <a:r>
              <a:rPr lang="en-us" b="1" cap="none"/>
              <a:t>Chunk-Size: Medium Videos (~17 min)</a:t>
            </a:r>
            <a:endParaRPr lang="en-us" b="1" cap="none"/>
          </a:p>
        </p:txBody>
      </p:sp>
      <p:sp>
        <p:nvSpPr>
          <p:cNvPr id="3" name="Sub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IAAGEFAABwNQAAtwcAABAAAAAmAAAACAAAAP//////////"/>
              </a:ext>
            </a:extLst>
          </p:cNvSpPr>
          <p:nvPr/>
        </p:nvSpPr>
        <p:spPr>
          <a:xfrm>
            <a:off x="457200" y="874395"/>
            <a:ext cx="8229600" cy="3797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2200" cap="none">
                <a:solidFill>
                  <a:srgbClr val="AAAAAA"/>
                </a:solidFill>
              </a:rPr>
              <a:t>MRR@5 by Chunk Size × Whisper Model</a:t>
            </a:r>
            <a:endParaRPr lang="en-us" sz="2200" cap="none">
              <a:solidFill>
                <a:srgbClr val="AAAAAA"/>
              </a:solidFill>
            </a:endParaRPr>
          </a:p>
        </p:txBody>
      </p:sp>
      <p:pic>
        <p:nvPicPr>
          <p:cNvPr id="4" name="Matrix Image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BAEE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GgBAAAPCAAA2DYAAJc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10005"/>
            <a:ext cx="8686800" cy="35001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IAALABAABwNQAAYQUAABAAAAAmAAAACAAAAP//////////"/>
              </a:ext>
            </a:extLst>
          </p:cNvSpPr>
          <p:nvPr/>
        </p:nvSpPr>
        <p:spPr>
          <a:xfrm>
            <a:off x="457200" y="274320"/>
            <a:ext cx="822960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400" cap="none">
                <a:solidFill>
                  <a:schemeClr val="bg1"/>
                </a:solidFill>
              </a:defRPr>
            </a:pPr>
            <a:r>
              <a:rPr lang="en-us" b="1" cap="none"/>
              <a:t>Chunk-Size: Long Videos (~42 min)</a:t>
            </a:r>
            <a:endParaRPr lang="en-us" b="1" cap="none"/>
          </a:p>
        </p:txBody>
      </p:sp>
      <p:sp>
        <p:nvSpPr>
          <p:cNvPr id="3" name="Sub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IAAGEFAABwNQAAtwcAABAAAAAmAAAACAAAAP//////////"/>
              </a:ext>
            </a:extLst>
          </p:cNvSpPr>
          <p:nvPr/>
        </p:nvSpPr>
        <p:spPr>
          <a:xfrm>
            <a:off x="457200" y="874395"/>
            <a:ext cx="8229600" cy="3797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2200" cap="none">
                <a:solidFill>
                  <a:srgbClr val="AAAAAA"/>
                </a:solidFill>
              </a:rPr>
              <a:t>MRR@5 by Chunk Size × Whisper Model</a:t>
            </a:r>
            <a:endParaRPr lang="en-us" sz="2200" cap="none">
              <a:solidFill>
                <a:srgbClr val="AAAAAA"/>
              </a:solidFill>
            </a:endParaRPr>
          </a:p>
        </p:txBody>
      </p:sp>
      <p:pic>
        <p:nvPicPr>
          <p:cNvPr id="4" name="Matrix Image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GgBAAAPCAAA2DYAAJc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10005"/>
            <a:ext cx="8686800" cy="35001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cBEAABAAAAAmAAAACAAAAP//////////"/>
              </a:ext>
            </a:extLst>
          </p:cNvSpPr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800" b="1" cap="none"/>
              <a:t>Component Selection by Persona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cap="none"/>
              <a:t>From solo developer to global enterprise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YTo8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ZSY7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0xUAABAAAAAmAAAACAAAAP//////////"/>
              </a:ext>
            </a:extLst>
          </p:cNvSpPr>
          <p:nvPr/>
        </p:nvSpPr>
        <p:spPr>
          <a:xfrm>
            <a:off x="365760" y="1554480"/>
            <a:ext cx="8412480" cy="19932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3800" b="1" cap="none">
                <a:solidFill>
                  <a:srgbClr val="E6E6E6"/>
                </a:solidFill>
              </a:defRPr>
            </a:pPr>
            <a:r>
              <a:t>What is your goal?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eUFI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0AIAALABAABwNQAA6AUAABAAAAAmAAAACAAAAP//////////"/>
              </a:ext>
            </a:extLst>
          </p:cNvSpPr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3000" b="1" cap="none">
                <a:solidFill>
                  <a:srgbClr val="1C2B3A"/>
                </a:solidFill>
              </a:rPr>
              <a:t>The Right Stack for Every Budget</a:t>
            </a:r>
            <a:endParaRPr lang="en-us" sz="3000" cap="none"/>
          </a:p>
        </p:txBody>
      </p:sp>
      <p:sp>
        <p:nvSpPr>
          <p:cNvPr id="3" name="Shape 1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4urwAP///wgAAAAAAAAAAAAAAAAAAAAAAAAAAAAAAAAAAAAAeAAAAAEAAABAAAAAAAAAAAAAAABaAAAAAAAAAAAAAAAAAAAAAAAAAAAAAAAAAAAAAAAAAAAAAAAAAAAAAAAAAAAAAAAAAAAAAAAAAAAAAAAAAAAAAAAAAAAAAAAAAAAAFAAAADwAAAABAAAAAAAAAOLq8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rca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urwAP///wEAAAAAAAAAAAAAAAAAAAAAAAAAAAAAAAAAAAAAAAAAAOLq8AB/f38AgICAA8zMzADAwP8Af39/AAAAAAAAAAAAAAAAAAAAAAAAAAAAIQAAABgAAAAUAAAA0AIAAFAHAABwNQAAewcAABAAAAAmAAAACAAAAP//////////"/>
              </a:ext>
            </a:extLst>
          </p:cNvSpPr>
          <p:nvPr/>
        </p:nvSpPr>
        <p:spPr>
          <a:xfrm>
            <a:off x="457200" y="1188720"/>
            <a:ext cx="8229600" cy="27305"/>
          </a:xfrm>
          <a:prstGeom prst="rect">
            <a:avLst/>
          </a:prstGeom>
          <a:solidFill>
            <a:srgbClr val="E2EAF0"/>
          </a:solidFill>
          <a:ln w="12700" cap="flat" cmpd="sng" algn="ctr">
            <a:solidFill>
              <a:srgbClr val="E2EAF0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Shape 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cZTAP///wgAAAAAAAAAAAAAAAAAAAAAAAAAAAAAAAAAAAAAeAAAAAEAAABAAAAAAAAAAAAAAABaAAAAAAAAAAAAAAAAAAAAAAAAAAAAAAAAAAAAAAAAAAAAAAAAAAAAAAAAAAAAAAAAAAAAAAAAAAAAAAAAAAAAAAAAAAAAAAAAAAAAFAAAADwAAAABAAAAAAAAAC3GU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f5Gr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cZTAP///wEAAAAAAAAAAAAAAAAAAAAAAAAAAAAAAAAAAAAAAAAAAC3GUwB/f38AgICAA8zMzADAwP8Af39/AAAAAAAAAAAAAAAAAAAAAAAAAAAAIQAAABgAAAAUAAAAsAEAACgIAAAQDgAA2BsAABAAAAAmAAAACAAAAP//////////"/>
              </a:ext>
            </a:extLst>
          </p:cNvSpPr>
          <p:nvPr/>
        </p:nvSpPr>
        <p:spPr>
          <a:xfrm>
            <a:off x="274320" y="1325880"/>
            <a:ext cx="2011680" cy="3200400"/>
          </a:xfrm>
          <a:prstGeom prst="rect">
            <a:avLst/>
          </a:prstGeom>
          <a:solidFill>
            <a:srgbClr val="2DC653"/>
          </a:solidFill>
          <a:ln w="12700" cap="flat" cmpd="sng" algn="ctr">
            <a:solidFill>
              <a:srgbClr val="2DC653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tYyf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LgIAACADQAAGAwAABAAAAAmAAAACAAAAP//////////"/>
              </a:ext>
            </a:extLst>
          </p:cNvSpPr>
          <p:nvPr/>
        </p:nvSpPr>
        <p:spPr>
          <a:xfrm>
            <a:off x="365760" y="141732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b="1" cap="none">
                <a:solidFill>
                  <a:srgbClr val="FFFFFF"/>
                </a:solidFill>
              </a:rPr>
              <a:t>Solo Dev</a:t>
            </a:r>
            <a:r>
              <a:rPr lang="en-us" b="1" cap="none">
                <a:solidFill>
                  <a:schemeClr val="bg1"/>
                </a:solidFill>
              </a:rPr>
              <a:t>eloper</a:t>
            </a:r>
            <a:endParaRPr lang="en-us" b="1" cap="none">
              <a:solidFill>
                <a:schemeClr val="bg1"/>
              </a:solidFill>
            </a:endParaRPr>
          </a:p>
        </p:txBody>
      </p:sp>
      <p:sp>
        <p:nvSpPr>
          <p:cNvPr id="6" name="Shape 4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////AP///wg9AAAAAAAAAAAAAAAAAAAAAAAAAAAAAAAAAAAAeAAAAAEAAABAAAAAAAAAAAAAAABaAAAAAAAAAAAAAAAAAAAAAAAAAAAAAAAAAAAAAAAAAAAAAAAAAAAAAAAAAAAAAAAAAAAAAAAAAAAAAAAAAAAAAAAAAAAAAAAAAAAAFAAAADwAAAABAAAAAAAAAP///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85uoYeAAAAaAAAAAAAAAAAAAAAAAAAAAAAAAAAAAAAECcAABAnAAAAAAAAAAAAAAAAAAAAAAAAAAAAAAAAAAA8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gICAA8zMzADAwP8Af39/AAAAAAAAAAAAAAAAAAAAAAAAAAAAIQAAABgAAAAUAAAAQAIAAGAMAACADQAAiwwAABAAAAAmAAAACAAAAP//////////"/>
              </a:ext>
            </a:extLst>
          </p:cNvSpPr>
          <p:nvPr/>
        </p:nvSpPr>
        <p:spPr>
          <a:xfrm>
            <a:off x="365760" y="2011680"/>
            <a:ext cx="1828800" cy="27305"/>
          </a:xfrm>
          <a:prstGeom prst="rect">
            <a:avLst/>
          </a:prstGeom>
          <a:solidFill>
            <a:srgbClr val="FFFFFF">
              <a:alpha val="39000"/>
            </a:srgbClr>
          </a:solidFill>
          <a:ln w="12700" cap="flat" cmpd="sng" algn="ctr">
            <a:solidFill>
              <a:srgbClr val="FFFFFF">
                <a:alpha val="40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Text 5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dO4/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PAMAACADQAAMA8AABAAAAAmAAAACAAAAP//////////"/>
              </a:ext>
            </a:extLst>
          </p:cNvSpPr>
          <p:nvPr/>
        </p:nvSpPr>
        <p:spPr>
          <a:xfrm>
            <a:off x="365760" y="21031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200" cap="none">
                <a:solidFill>
                  <a:srgbClr val="DDEEFF"/>
                </a:solidFill>
              </a:rPr>
              <a:t>Budget: almost none</a:t>
            </a:r>
            <a:endParaRPr lang="en-us" sz="1200" cap="none">
              <a:solidFill>
                <a:srgbClr val="DDEEFF"/>
              </a:solidFill>
            </a:endParaRPr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gQAACADQAAeBgAABAAAAAmAAAACAAAAP//////////"/>
              </a:ext>
            </a:extLst>
          </p:cNvSpPr>
          <p:nvPr/>
        </p:nvSpPr>
        <p:spPr>
          <a:xfrm>
            <a:off x="365760" y="2606040"/>
            <a:ext cx="1828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</a:p>
          <a:p>
            <a:pPr marL="0" indent="0" algn="ctr">
              <a:buNone/>
              <p:prBullet>
                <a:buNone/>
              </p:prBullet>
            </a:pPr>
          </a:p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Llama (free)</a:t>
            </a:r>
            <a:endParaRPr lang="en-us" sz="1400" b="1" cap="none">
              <a:solidFill>
                <a:srgbClr val="FFFFFF"/>
              </a:solidFill>
            </a:endParaRPr>
          </a:p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+ Whisper small</a:t>
            </a:r>
            <a:endParaRPr lang="en-us" sz="1400" b="1" cap="none">
              <a:solidFill>
                <a:srgbClr val="FFFFFF"/>
              </a:solidFill>
            </a:endParaRPr>
          </a:p>
          <a:p>
            <a:pPr marL="0" indent="0" algn="ctr">
              <a:buNone/>
              <p:prBullet>
                <a:buNone/>
              </p:prBullet>
              <a:defRPr lang="en-us" sz="1400" b="1" cap="none">
                <a:solidFill>
                  <a:srgbClr val="FFFFFF"/>
                </a:solidFill>
              </a:defRPr>
            </a:pPr>
            <a:r>
              <a:t>+ text-emb.-3-small</a:t>
            </a:r>
          </a:p>
          <a:p>
            <a:pPr marL="0" indent="0" algn="ctr">
              <a:buNone/>
              <p:prBullet>
                <a:buNone/>
              </p:prBullet>
              <a:defRPr lang="en-us" sz="1400" b="1" cap="none">
                <a:solidFill>
                  <a:srgbClr val="FFFFFF"/>
                </a:solidFill>
              </a:defRPr>
            </a:pPr>
            <a:r>
              <a:t>+ Bitrate 32-64</a:t>
            </a:r>
          </a:p>
          <a:p>
            <a:pPr marL="0" indent="0" algn="ctr">
              <a:buNone/>
              <p:prBullet>
                <a:buNone/>
              </p:prBullet>
              <a:defRPr lang="en-us" sz="1400" b="1" cap="none">
                <a:solidFill>
                  <a:srgbClr val="FFFFFF"/>
                </a:solidFill>
              </a:defRPr>
            </a:pPr>
          </a:p>
          <a:p>
            <a:pPr marL="0" indent="0" algn="ctr">
              <a:buNone/>
              <p:prBullet>
                <a:buNone/>
              </p:prBullet>
              <a:defRPr lang="en-us" sz="1400" b="1" cap="none">
                <a:solidFill>
                  <a:srgbClr val="FFFFFF"/>
                </a:solidFill>
              </a:defRPr>
            </a:pPr>
          </a:p>
        </p:txBody>
      </p:sp>
      <p:sp>
        <p:nvSpPr>
          <p:cNvPr id="9" name="Shape 7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bD+e3////wgAAAAAAAAAAAAAAAAAAAAAAAAAAAAAAAAAAAAAeAAAAAEAAABAAAAAAAAAAAAAAABaAAAAAAAAAAAAAAAAAAAAAAAAAAAAAAAAAAAAAAAAAAAAAAAAAAAAAAAAAAAAAAAAAAAAAAAAAAAAAAAAAAAAAAAAAAAAAAAAAAAAFAAAADwAAAABAAAAAAAAACJRcQs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3rr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bD+euP///wEAAAAAAAAAAAAAAAAAAAAAAAAAAAAAAAAAAAAAAAAAACJRcQR/f38AgICAA8zMzADAwP8Af39/AAAAAAAAAAAAAAAAAAAAAAAAAAAAIQAAABgAAAAUAAAAMA8AACgIAACQGwAA2BsAABAAAAAmAAAACAAAAP//////////"/>
              </a:ext>
            </a:extLst>
          </p:cNvSpPr>
          <p:nvPr/>
        </p:nvSpPr>
        <p:spPr>
          <a:xfrm>
            <a:off x="2468880" y="1325880"/>
            <a:ext cx="2011680" cy="3200400"/>
          </a:xfrm>
          <a:prstGeom prst="rect">
            <a:avLst/>
          </a:prstGeom>
          <a:solidFill>
            <a:schemeClr val="folHlink">
              <a:shade val="62500"/>
            </a:schemeClr>
          </a:solidFill>
          <a:ln w="12700" cap="flat" cmpd="sng" algn="ctr">
            <a:solidFill>
              <a:schemeClr val="tx2"/>
            </a:solidFill>
            <a:prstDash val="solid"/>
            <a:headEnd type="none"/>
            <a:tailEnd type="none"/>
          </a:ln>
          <a:effectLst/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ALej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A8AALgIAAAAGwAAGAwAABAAAAAmAAAACAAAAP//////////"/>
              </a:ext>
            </a:extLst>
          </p:cNvSpPr>
          <p:nvPr/>
        </p:nvSpPr>
        <p:spPr>
          <a:xfrm>
            <a:off x="2560320" y="141732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b="1" cap="none">
                <a:solidFill>
                  <a:srgbClr val="FFFFFF"/>
                </a:solidFill>
              </a:rPr>
              <a:t>Startup</a:t>
            </a:r>
            <a:endParaRPr lang="en-us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////AP///wg9AAAAAAAAAAAAAAAAAAAAAAAAAAAAAAAAAAAAeAAAAAEAAABAAAAAAAAAAAAAAABaAAAAAAAAAAAAAAAAAAAAAAAAAAAAAAAAAAAAAAAAAAAAAAAAAAAAAAAAAAAAAAAAAAAAAAAAAAAAAAAAAAAAAAAAAAAAAAAAAAAAFAAAADwAAAABAAAAAAAAAP///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/rnpIeAAAAaAAAAAAAAAAAAAAAAAAAAAAAAAAAAAAAECcAABAnAAAAAAAAAAAAAAAAAAAAAAAAAAAAAAAAAAA8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gICAA8zMzADAwP8Af39/AAAAAAAAAAAAAAAAAAAAAAAAAAAAIQAAABgAAAAUAAAAwA8AAGAMAAAAGwAAiwwAABAAAAAmAAAACAAAAP//////////"/>
              </a:ext>
            </a:extLst>
          </p:cNvSpPr>
          <p:nvPr/>
        </p:nvSpPr>
        <p:spPr>
          <a:xfrm>
            <a:off x="2560320" y="2011680"/>
            <a:ext cx="1828800" cy="27305"/>
          </a:xfrm>
          <a:prstGeom prst="rect">
            <a:avLst/>
          </a:prstGeom>
          <a:solidFill>
            <a:srgbClr val="FFFFFF">
              <a:alpha val="39000"/>
            </a:srgbClr>
          </a:solidFill>
          <a:ln w="12700" cap="flat" cmpd="sng" algn="ctr">
            <a:solidFill>
              <a:srgbClr val="FFFFFF">
                <a:alpha val="40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EoR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A8AAPAMAAAAGwAAMA8AABAAAAAmAAAACAAAAP//////////"/>
              </a:ext>
            </a:extLst>
          </p:cNvSpPr>
          <p:nvPr/>
        </p:nvSpPr>
        <p:spPr>
          <a:xfrm>
            <a:off x="2560320" y="21031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200" cap="none">
                <a:solidFill>
                  <a:srgbClr val="DDEEFF"/>
                </a:solidFill>
              </a:rPr>
              <a:t>Budget: small</a:t>
            </a:r>
            <a:endParaRPr lang="en-us" sz="1200" cap="none">
              <a:solidFill>
                <a:srgbClr val="DDEEFF"/>
              </a:solidFill>
            </a:endParaRPr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wuN5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A8AAAgQAAAAGwAAeBgAABAAAAAmAAAACAAAAP//////////"/>
              </a:ext>
            </a:extLst>
          </p:cNvSpPr>
          <p:nvPr/>
        </p:nvSpPr>
        <p:spPr>
          <a:xfrm>
            <a:off x="2560320" y="2606040"/>
            <a:ext cx="1828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gpt-4o-mini</a:t>
            </a:r>
            <a:r>
              <a:rPr lang="en-us" sz="1400" cap="none"/>
              <a:t> </a:t>
            </a:r>
            <a:r>
              <a:rPr lang="en-us" sz="1400" b="1" cap="none"/>
              <a:t>or Llama</a:t>
            </a:r>
            <a:endParaRPr lang="en-us" sz="1400" cap="none"/>
          </a:p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+ Whisper small</a:t>
            </a:r>
            <a:endParaRPr lang="en-us" sz="1400" b="1" cap="none">
              <a:solidFill>
                <a:srgbClr val="FFFFFF"/>
              </a:solidFill>
            </a:endParaRPr>
          </a:p>
          <a:p>
            <a:pPr marL="0" indent="0" algn="ctr">
              <a:buNone/>
              <p:prBullet>
                <a:buNone/>
              </p:prBullet>
              <a:defRPr lang="en-us" sz="1400" b="1" cap="none"/>
            </a:pPr>
            <a:r>
              <a:t>+ text-emb.-3-small</a:t>
            </a:r>
          </a:p>
          <a:p>
            <a:pPr marL="0" indent="0" algn="ctr">
              <a:buNone/>
              <p:prBullet>
                <a:buNone/>
              </p:prBullet>
              <a:defRPr lang="en-us" sz="1400" b="1" cap="none"/>
            </a:pPr>
            <a:r>
              <a:t>+ Bitrate 32-64</a:t>
            </a:r>
          </a:p>
        </p:txBody>
      </p:sp>
      <p:sp>
        <p:nvSpPr>
          <p:cNvPr id="14" name="Shape 12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9q4tAP///wgAAAAAAAAAAAAAAAAAAAAAAAAAAAAAAAAAAAAAeAAAAAEAAABAAAAAAAAAAAAAAABaAAAAAAAAAAAAAAAAAAAAAAAAAAAAAAAAAAAAAAAAAAAAAAAAAAAAAAAAAAAAAAAAAAAAAAAAAAAAAAAAAAAAAAAAAAAAAAAAAAAAFAAAADwAAAABAAAAAAAAAPauLQ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J+1c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q4tAP///wEAAAAAAAAAAAAAAAAAAAAAAAAAAAAAAAAAAAAAAAAAAPauLQB/f38AgICAA8zMzADAwP8Af39/AAAAAAAAAAAAAAAAAAAAAAAAAAAAIQAAABgAAAAUAAAAsBwAACgIAAAQKQAA2BsAABAAAAAmAAAACAAAAP//////////"/>
              </a:ext>
            </a:extLst>
          </p:cNvSpPr>
          <p:nvPr/>
        </p:nvSpPr>
        <p:spPr>
          <a:xfrm>
            <a:off x="4663440" y="1325880"/>
            <a:ext cx="2011680" cy="3200400"/>
          </a:xfrm>
          <a:prstGeom prst="rect">
            <a:avLst/>
          </a:prstGeom>
          <a:solidFill>
            <a:srgbClr val="F6AE2D"/>
          </a:solidFill>
          <a:ln w="12700" cap="flat" cmpd="sng" algn="ctr">
            <a:solidFill>
              <a:srgbClr val="F6AE2D"/>
            </a:solidFill>
            <a:prstDash val="solid"/>
            <a:headEnd type="none"/>
            <a:tailEnd type="none"/>
          </a:ln>
          <a:effectLst/>
        </p:spPr>
      </p:sp>
      <p:sp>
        <p:nvSpPr>
          <p:cNvPr id="15" name="Text 1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Rf8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B0AALgIAACAKAAAGAwAABAAAAAmAAAACAAAAP//////////"/>
              </a:ext>
            </a:extLst>
          </p:cNvSpPr>
          <p:nvPr/>
        </p:nvSpPr>
        <p:spPr>
          <a:xfrm>
            <a:off x="4754880" y="141732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b="1" cap="none">
                <a:solidFill>
                  <a:srgbClr val="FFFFFF"/>
                </a:solidFill>
              </a:rPr>
              <a:t>SME</a:t>
            </a:r>
            <a:endParaRPr lang="en-us" cap="none"/>
          </a:p>
        </p:txBody>
      </p:sp>
      <p:sp>
        <p:nvSpPr>
          <p:cNvPr id="16" name="Shape 14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////AP///wg9AAAAAAAAAAAAAAAAAAAAAAAAAAAAAAAAAAAAeAAAAAEAAABAAAAAAAAAAAAAAABaAAAAAAAAAAAAAAAAAAAAAAAAAAAAAAAAAAAAAAAAAAAAAAAAAAAAAAAAAAAAAAAAAAAAAAAAAAAAAAAAAAAAAAAAAAAAAAAAAAAAFAAAADwAAAABAAAAAAAAAP///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HkrqEeAAAAaAAAAAAAAAAAAAAAAAAAAAAAAAAAAAAAECcAABAnAAAAAAAAAAAAAAAAAAAAAAAAAAAAAAAAAAA8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gICAA8zMzADAwP8Af39/AAAAAAAAAAAAAAAAAAAAAAAAAAAAIQAAABgAAAAUAAAAQB0AAGAMAACAKAAAiwwAABAAAAAmAAAACAAAAP//////////"/>
              </a:ext>
            </a:extLst>
          </p:cNvSpPr>
          <p:nvPr/>
        </p:nvSpPr>
        <p:spPr>
          <a:xfrm>
            <a:off x="4754880" y="2011680"/>
            <a:ext cx="1828800" cy="27305"/>
          </a:xfrm>
          <a:prstGeom prst="rect">
            <a:avLst/>
          </a:prstGeom>
          <a:solidFill>
            <a:srgbClr val="FFFFFF">
              <a:alpha val="39000"/>
            </a:srgbClr>
          </a:solidFill>
          <a:ln w="12700" cap="flat" cmpd="sng" algn="ctr">
            <a:solidFill>
              <a:srgbClr val="FFFFFF">
                <a:alpha val="40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17" name="Text 15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LsaF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B0AAPAMAACAKAAAMA8AABAAAAAmAAAACAAAAP//////////"/>
              </a:ext>
            </a:extLst>
          </p:cNvSpPr>
          <p:nvPr/>
        </p:nvSpPr>
        <p:spPr>
          <a:xfrm>
            <a:off x="4754880" y="21031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200" cap="none">
                <a:solidFill>
                  <a:srgbClr val="DDEEFF"/>
                </a:solidFill>
              </a:rPr>
              <a:t>Budget: medium</a:t>
            </a:r>
            <a:endParaRPr lang="en-us" sz="1200" cap="none">
              <a:solidFill>
                <a:srgbClr val="DDEEFF"/>
              </a:solidFill>
            </a:endParaRPr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Z7Ww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B0AAAgQAACAKAAAeBgAABAAAAAmAAAACAAAAP//////////"/>
              </a:ext>
            </a:extLst>
          </p:cNvSpPr>
          <p:nvPr/>
        </p:nvSpPr>
        <p:spPr>
          <a:xfrm>
            <a:off x="4754880" y="2606040"/>
            <a:ext cx="1828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gpt-5-mini</a:t>
            </a:r>
            <a:endParaRPr lang="en-us" sz="1400" cap="none"/>
          </a:p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+ API Whisper</a:t>
            </a:r>
            <a:endParaRPr lang="en-us" sz="1400" b="1" cap="none">
              <a:solidFill>
                <a:srgbClr val="FFFFFF"/>
              </a:solidFill>
            </a:endParaRPr>
          </a:p>
          <a:p>
            <a:pPr marL="0" indent="0" algn="ctr">
              <a:buNone/>
              <p:prBullet>
                <a:buNone/>
              </p:prBullet>
              <a:defRPr lang="en-us" sz="1400" b="1" cap="none"/>
            </a:pPr>
            <a:r>
              <a:t>+ text-emb.-small</a:t>
            </a:r>
          </a:p>
          <a:p>
            <a:pPr marL="0" indent="0" algn="ctr">
              <a:buNone/>
              <p:prBullet>
                <a:buNone/>
              </p:prBullet>
              <a:defRPr lang="en-us" sz="1400" b="1" cap="none"/>
            </a:pPr>
            <a:r>
              <a:t>+ Bitrate 64</a:t>
            </a:r>
          </a:p>
        </p:txBody>
      </p:sp>
      <p:sp>
        <p:nvSpPr>
          <p:cNvPr id="19" name="Shape 17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8mQZAP///wgAAAAAAAAAAAAAAAAAAAAAAAAAAAAAAAAAAAAAeAAAAAEAAABAAAAAAAAAAAAAAABaAAAAAAAAAAAAAAAAAAAAAAAAAAAAAAAAAAAAAAAAAAAAAAAAAAAAAAAAAAAAAAAAAAAAAAAAAAAAAAAAAAAAAAAAAAAAAAAAAAAAFAAAADwAAAABAAAAAAAAAPJkGQ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637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mQZAP///wEAAAAAAAAAAAAAAAAAAAAAAAAAAAAAAAAAAAAAAAAAAPJkGQB/f38AgICAA8zMzADAwP8Af39/AAAAAAAAAAAAAAAAAAAAAAAAAAAAIQAAABgAAAAUAAAAMCoAACgIAACQNgAA2BsAABAAAAAmAAAACAAAAP//////////"/>
              </a:ext>
            </a:extLst>
          </p:cNvSpPr>
          <p:nvPr/>
        </p:nvSpPr>
        <p:spPr>
          <a:xfrm>
            <a:off x="6858000" y="1325880"/>
            <a:ext cx="2011680" cy="3200400"/>
          </a:xfrm>
          <a:prstGeom prst="rect">
            <a:avLst/>
          </a:prstGeom>
          <a:solidFill>
            <a:srgbClr val="F26419"/>
          </a:solidFill>
          <a:ln w="12700" cap="flat" cmpd="sng" algn="ctr">
            <a:solidFill>
              <a:srgbClr val="F26419"/>
            </a:solidFill>
            <a:prstDash val="solid"/>
            <a:headEnd type="none"/>
            <a:tailEnd type="none"/>
          </a:ln>
          <a:effectLst/>
        </p:spPr>
      </p:sp>
      <p:sp>
        <p:nvSpPr>
          <p:cNvPr id="20" name="Text 18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TShA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CoAALgIAAAANgAAGAwAABAAAAAmAAAACAAAAP//////////"/>
              </a:ext>
            </a:extLst>
          </p:cNvSpPr>
          <p:nvPr/>
        </p:nvSpPr>
        <p:spPr>
          <a:xfrm>
            <a:off x="6949440" y="141732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b="1" cap="none">
                <a:solidFill>
                  <a:srgbClr val="FFFFFF"/>
                </a:solidFill>
              </a:rPr>
              <a:t>Enterprise</a:t>
            </a:r>
            <a:endParaRPr lang="en-us" cap="none"/>
          </a:p>
        </p:txBody>
      </p:sp>
      <p:sp>
        <p:nvSpPr>
          <p:cNvPr id="21" name="Shape 19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////AP///wg9AAAAAAAAAAAAAAAAAAAAAAAAAAAAAAAAAAAAeAAAAAEAAABAAAAAAAAAAAAAAABaAAAAAAAAAAAAAAAAAAAAAAAAAAAAAAAAAAAAAAAAAAAAAAAAAAAAAAAAAAAAAAAAAAAAAAAAAAAAAAAAAAAAAAAAAAAAAAAAAAAAFAAAADwAAAABAAAAAAAAAP///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5qLiseAAAAaAAAAAAAAAAAAAAAAAAAAAAAAAAAAAAAECcAABAnAAAAAAAAAAAAAAAAAAAAAAAAAAAAAAAAAAA8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gICAA8zMzADAwP8Af39/AAAAAAAAAAAAAAAAAAAAAAAAAAAAIQAAABgAAAAUAAAAwCoAAGAMAAAANgAAiwwAABAAAAAmAAAACAAAAP//////////"/>
              </a:ext>
            </a:extLst>
          </p:cNvSpPr>
          <p:nvPr/>
        </p:nvSpPr>
        <p:spPr>
          <a:xfrm>
            <a:off x="6949440" y="2011680"/>
            <a:ext cx="1828800" cy="27305"/>
          </a:xfrm>
          <a:prstGeom prst="rect">
            <a:avLst/>
          </a:prstGeom>
          <a:solidFill>
            <a:srgbClr val="FFFFFF">
              <a:alpha val="39000"/>
            </a:srgbClr>
          </a:solidFill>
          <a:ln w="12700" cap="flat" cmpd="sng" algn="ctr">
            <a:solidFill>
              <a:srgbClr val="FFFFFF">
                <a:alpha val="40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22" name="Text 20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Cr7c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CoAAPAMAAAANgAAMA8AABAAAAAmAAAACAAAAP//////////"/>
              </a:ext>
            </a:extLst>
          </p:cNvSpPr>
          <p:nvPr/>
        </p:nvSpPr>
        <p:spPr>
          <a:xfrm>
            <a:off x="6949440" y="21031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200" cap="none">
                <a:solidFill>
                  <a:srgbClr val="DDEEFF"/>
                </a:solidFill>
              </a:rPr>
              <a:t>Budget: </a:t>
            </a:r>
            <a:r>
              <a:rPr lang="en-us" sz="1200" cap="none"/>
              <a:t>unlimited</a:t>
            </a:r>
            <a:endParaRPr lang="en-us" sz="1200" cap="none"/>
          </a:p>
        </p:txBody>
      </p:sp>
      <p:sp>
        <p:nvSpPr>
          <p:cNvPr id="23" name="Text 2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wCoAAAgQAAAANgAAeBgAABAAAAAmAAAACAAAAP//////////"/>
              </a:ext>
            </a:extLst>
          </p:cNvSpPr>
          <p:nvPr/>
        </p:nvSpPr>
        <p:spPr>
          <a:xfrm>
            <a:off x="6949440" y="2606040"/>
            <a:ext cx="1828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gpt-5</a:t>
            </a:r>
            <a:r>
              <a:rPr lang="en-us" sz="1400" cap="none"/>
              <a:t> </a:t>
            </a:r>
            <a:r>
              <a:rPr lang="en-us" sz="1400" b="1" cap="none">
                <a:solidFill>
                  <a:srgbClr val="FFFFFF"/>
                </a:solidFill>
              </a:rPr>
              <a:t>or higher</a:t>
            </a:r>
            <a:endParaRPr lang="en-us" sz="1400" b="1" cap="none">
              <a:solidFill>
                <a:srgbClr val="FFFFFF"/>
              </a:solidFill>
            </a:endParaRPr>
          </a:p>
          <a:p>
            <a:pPr marL="0" indent="0" algn="ctr">
              <a:buNone/>
              <p:prBullet>
                <a:buNone/>
              </p:prBullet>
            </a:pPr>
            <a:r>
              <a:rPr lang="en-us" sz="1400" b="1" cap="none">
                <a:solidFill>
                  <a:srgbClr val="FFFFFF"/>
                </a:solidFill>
              </a:rPr>
              <a:t>+ API Whisper</a:t>
            </a:r>
            <a:endParaRPr lang="en-us" sz="1400" b="1" cap="none">
              <a:solidFill>
                <a:srgbClr val="FFFFFF"/>
              </a:solidFill>
            </a:endParaRPr>
          </a:p>
          <a:p>
            <a:pPr marL="0" indent="0" algn="ctr">
              <a:buNone/>
              <p:prBullet>
                <a:buNone/>
              </p:prBullet>
              <a:defRPr lang="en-us" sz="1400" b="1" cap="none">
                <a:solidFill>
                  <a:srgbClr val="FFFFFF"/>
                </a:solidFill>
              </a:defRPr>
            </a:pPr>
            <a:r>
              <a:t>+ text-emb.-small</a:t>
            </a:r>
          </a:p>
          <a:p>
            <a:pPr marL="0" indent="0" algn="ctr">
              <a:buNone/>
              <p:prBullet>
                <a:buNone/>
              </p:prBullet>
              <a:defRPr lang="en-us" sz="1400" b="1" cap="none">
                <a:solidFill>
                  <a:srgbClr val="FFFFFF"/>
                </a:solidFill>
              </a:defRPr>
            </a:pPr>
            <a:r>
              <a:t>+ Bitrate 64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cBEAABAAAAAmAAAACAAAAP//////////"/>
              </a:ext>
            </a:extLst>
          </p:cNvSpPr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cap="none">
                <a:solidFill>
                  <a:srgbClr val="E6E6E6"/>
                </a:solidFill>
              </a:defRPr>
            </a:pPr>
            <a:r>
              <a:rPr lang="en-us" sz="3800" b="1" cap="none"/>
              <a:t>Real-World RAG Applications</a:t>
            </a:r>
            <a:endParaRPr lang="en-us" sz="3800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AASAAAANgAA8BUAABAAAAAmAAAACAAAAP//////////"/>
              </a:ext>
            </a:extLst>
          </p:cNvSpPr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cap="none"/>
              <a:t>Where this technology creates the most value?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L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2AEAALABAADANgAAYQUAABAAAAAmAAAACAAAAP//////////"/>
              </a:ext>
            </a:extLst>
          </p:cNvSpPr>
          <p:nvPr/>
        </p:nvSpPr>
        <p:spPr>
          <a:xfrm>
            <a:off x="299720" y="274320"/>
            <a:ext cx="860044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3800" cap="none">
                <a:solidFill>
                  <a:schemeClr val="bg1"/>
                </a:solidFill>
              </a:defRPr>
            </a:pPr>
            <a:r>
              <a:rPr lang="en-us" b="1" cap="none"/>
              <a:t>Real-World RAG Applications</a:t>
            </a:r>
            <a:endParaRPr lang="en-us" b="1" cap="none"/>
          </a:p>
        </p:txBody>
      </p:sp>
      <p:sp>
        <p:nvSpPr>
          <p:cNvPr id="4" name="Sub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2AEAAIkFAADANgAA4AcAABAAAAAmAAAACAAAAP//////////"/>
              </a:ext>
            </a:extLst>
          </p:cNvSpPr>
          <p:nvPr/>
        </p:nvSpPr>
        <p:spPr>
          <a:xfrm>
            <a:off x="299720" y="899795"/>
            <a:ext cx="8600440" cy="380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2000" cap="none">
                <a:solidFill>
                  <a:srgbClr val="AAAAAA"/>
                </a:solidFill>
              </a:rPr>
              <a:t>We build products your clients will love — powered by RAG</a:t>
            </a:r>
            <a:endParaRPr lang="en-us" sz="2000" cap="none">
              <a:solidFill>
                <a:srgbClr val="AAAAAA"/>
              </a:solidFill>
            </a:endParaRPr>
          </a:p>
        </p:txBody>
      </p:sp>
      <p:sp>
        <p:nvSpPr>
          <p:cNvPr id="5" name="Card 0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2AEAAHUKAAB0EgAArxsAABAAAAAmAAAACAAAAP//////////"/>
              </a:ext>
            </a:extLst>
          </p:cNvSpPr>
          <p:nvPr/>
        </p:nvSpPr>
        <p:spPr>
          <a:xfrm>
            <a:off x="299720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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Video &amp; Podcast Intelligence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Instantly query hours of YouTube, podcast or webinar content. Your customers ask — our RAG answers. Perfect for media companies, e-learning and corporate training.</a:t>
            </a:r>
            <a:endParaRPr lang="en-us" sz="1600" cap="none">
              <a:solidFill>
                <a:srgbClr val="CCDDEE"/>
              </a:solidFill>
            </a:endParaRPr>
          </a:p>
        </p:txBody>
      </p:sp>
      <p:sp>
        <p:nvSpPr>
          <p:cNvPr id="6" name="Card 1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YRMAAHUKAAD9IwAArxsAABAAAAAmAAAACAAAAP//////////"/>
              </a:ext>
            </a:extLst>
          </p:cNvSpPr>
          <p:nvPr/>
        </p:nvSpPr>
        <p:spPr>
          <a:xfrm>
            <a:off x="3150235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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News &amp; Research Monitor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Continuously ingest news feeds, research papers and reports. Deliver precise, cited answers from thousands of sources in real time.</a:t>
            </a:r>
            <a:endParaRPr lang="en-us" sz="1600" cap="none">
              <a:solidFill>
                <a:srgbClr val="CCDDEE"/>
              </a:solidFill>
            </a:endParaRPr>
          </a:p>
        </p:txBody>
      </p:sp>
      <p:sp>
        <p:nvSpPr>
          <p:cNvPr id="7" name="Card 2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6SQAAHUKAACFNQAArxsAABAAAAAmAAAACAAAAP//////////"/>
              </a:ext>
            </a:extLst>
          </p:cNvSpPr>
          <p:nvPr/>
        </p:nvSpPr>
        <p:spPr>
          <a:xfrm>
            <a:off x="6000115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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E-Learning &amp; Corporate Training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Turn any document library, course catalog or compliance handbook into an interactive Q&amp;A assistant. Onboarding in hours, not weeks.</a:t>
            </a:r>
            <a:endParaRPr lang="en-us" sz="1600" cap="none">
              <a:solidFill>
                <a:srgbClr val="CCDDE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2AEAALABAADANgAAYQUAABAAAAAmAAAACAAAAP//////////"/>
              </a:ext>
            </a:extLst>
          </p:cNvSpPr>
          <p:nvPr/>
        </p:nvSpPr>
        <p:spPr>
          <a:xfrm>
            <a:off x="299720" y="274320"/>
            <a:ext cx="860044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3800" cap="none">
                <a:solidFill>
                  <a:schemeClr val="bg1"/>
                </a:solidFill>
              </a:defRPr>
            </a:pPr>
            <a:r>
              <a:rPr lang="en-us" b="1" cap="none"/>
              <a:t>Real-World RAG Applications</a:t>
            </a:r>
            <a:endParaRPr lang="en-us" b="1" cap="none"/>
          </a:p>
        </p:txBody>
      </p:sp>
      <p:sp>
        <p:nvSpPr>
          <p:cNvPr id="4" name="Sub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2AEAAIkFAADANgAA4AcAABAAAAAmAAAACAAAAP//////////"/>
              </a:ext>
            </a:extLst>
          </p:cNvSpPr>
          <p:nvPr/>
        </p:nvSpPr>
        <p:spPr>
          <a:xfrm>
            <a:off x="299720" y="899795"/>
            <a:ext cx="8600440" cy="380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2000" cap="none">
                <a:solidFill>
                  <a:srgbClr val="AAAAAA"/>
                </a:solidFill>
              </a:rPr>
              <a:t>From customer service to internal knowledge — RAG scales with your business</a:t>
            </a:r>
            <a:endParaRPr lang="en-us" sz="2000" cap="none">
              <a:solidFill>
                <a:srgbClr val="AAAAAA"/>
              </a:solidFill>
            </a:endParaRPr>
          </a:p>
        </p:txBody>
      </p:sp>
      <p:sp>
        <p:nvSpPr>
          <p:cNvPr id="5" name="Card 0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2AEAAHUKAAB0EgAArxsAABAAAAAmAAAACAAAAP//////////"/>
              </a:ext>
            </a:extLst>
          </p:cNvSpPr>
          <p:nvPr/>
        </p:nvSpPr>
        <p:spPr>
          <a:xfrm>
            <a:off x="299720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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Customer Support Automation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Replace static FAQs with a live RAG agent trained on your product docs. 80% fewer support tickets, 24/7 availability, always up to date.</a:t>
            </a:r>
            <a:endParaRPr lang="en-us" sz="1600" cap="none">
              <a:solidFill>
                <a:srgbClr val="CCDDEE"/>
              </a:solidFill>
            </a:endParaRPr>
          </a:p>
        </p:txBody>
      </p:sp>
      <p:sp>
        <p:nvSpPr>
          <p:cNvPr id="6" name="Card 1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YRMAAHUKAAD9IwAArxsAABAAAAAmAAAACAAAAP//////////"/>
              </a:ext>
            </a:extLst>
          </p:cNvSpPr>
          <p:nvPr/>
        </p:nvSpPr>
        <p:spPr>
          <a:xfrm>
            <a:off x="3150235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⚖️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Legal &amp; Compliance Advisor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Query contracts, regulations and internal policies in seconds. Lawyers and compliance teams get cited answers — not keyword search results.</a:t>
            </a:r>
            <a:endParaRPr lang="en-us" sz="1600" cap="none">
              <a:solidFill>
                <a:srgbClr val="CCDDEE"/>
              </a:solidFill>
            </a:endParaRPr>
          </a:p>
        </p:txBody>
      </p:sp>
      <p:sp>
        <p:nvSpPr>
          <p:cNvPr id="7" name="Card 2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6SQAAHUKAACFNQAArxsAABAAAAAmAAAACAAAAP//////////"/>
              </a:ext>
            </a:extLst>
          </p:cNvSpPr>
          <p:nvPr/>
        </p:nvSpPr>
        <p:spPr>
          <a:xfrm>
            <a:off x="6000115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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Medical &amp; Clinical Knowledge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Clinicians query drug interactions, treatment guidelines and patient records. RAG provides grounded, traceable answers that reduce risk.</a:t>
            </a:r>
            <a:endParaRPr lang="en-us" sz="1600" cap="none">
              <a:solidFill>
                <a:srgbClr val="CCDDE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2AEAALABAADANgAAYQUAABAAAAAmAAAACAAAAP//////////"/>
              </a:ext>
            </a:extLst>
          </p:cNvSpPr>
          <p:nvPr/>
        </p:nvSpPr>
        <p:spPr>
          <a:xfrm>
            <a:off x="299720" y="274320"/>
            <a:ext cx="860044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3800" cap="none">
                <a:solidFill>
                  <a:schemeClr val="bg1"/>
                </a:solidFill>
              </a:defRPr>
            </a:pPr>
            <a:r>
              <a:rPr lang="en-us" b="1" cap="none"/>
              <a:t>Real-World RAG Applications</a:t>
            </a:r>
            <a:endParaRPr lang="en-us" b="1" cap="none"/>
          </a:p>
        </p:txBody>
      </p:sp>
      <p:sp>
        <p:nvSpPr>
          <p:cNvPr id="4" name="Sub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2AEAAIkFAADANgAA4AcAABAAAAAmAAAACAAAAP//////////"/>
              </a:ext>
            </a:extLst>
          </p:cNvSpPr>
          <p:nvPr/>
        </p:nvSpPr>
        <p:spPr>
          <a:xfrm>
            <a:off x="299720" y="899795"/>
            <a:ext cx="8600440" cy="380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2000" cap="none">
                <a:solidFill>
                  <a:srgbClr val="AAAAAA"/>
                </a:solidFill>
              </a:rPr>
              <a:t>The next wave of AI products — your competitive advantage</a:t>
            </a:r>
            <a:endParaRPr lang="en-us" sz="2000" cap="none">
              <a:solidFill>
                <a:srgbClr val="AAAAAA"/>
              </a:solidFill>
            </a:endParaRPr>
          </a:p>
        </p:txBody>
      </p:sp>
      <p:sp>
        <p:nvSpPr>
          <p:cNvPr id="5" name="Card 0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2AEAAHUKAAB0EgAArxsAABAAAAAmAAAACAAAAP//////////"/>
              </a:ext>
            </a:extLst>
          </p:cNvSpPr>
          <p:nvPr/>
        </p:nvSpPr>
        <p:spPr>
          <a:xfrm>
            <a:off x="299720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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Codebase &amp; Dev Docs Assistant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Developers ask questions about your codebase, API docs or changelogs and get precise code-aware answers instantly.</a:t>
            </a:r>
            <a:endParaRPr lang="en-us" sz="1600" cap="none">
              <a:solidFill>
                <a:srgbClr val="CCDDEE"/>
              </a:solidFill>
            </a:endParaRPr>
          </a:p>
        </p:txBody>
      </p:sp>
      <p:sp>
        <p:nvSpPr>
          <p:cNvPr id="6" name="Card 1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YRMAAHUKAAD9IwAArxsAABAAAAAmAAAACAAAAP//////////"/>
              </a:ext>
            </a:extLst>
          </p:cNvSpPr>
          <p:nvPr/>
        </p:nvSpPr>
        <p:spPr>
          <a:xfrm>
            <a:off x="3150235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️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Enterprise Internal Search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Connect SharePoint, Confluence, Slack and emails. One RAG interface for all internal knowledge — no more lost information.</a:t>
            </a:r>
            <a:endParaRPr lang="en-us" sz="1600" cap="none">
              <a:solidFill>
                <a:srgbClr val="CCDDEE"/>
              </a:solidFill>
            </a:endParaRPr>
          </a:p>
        </p:txBody>
      </p:sp>
      <p:sp>
        <p:nvSpPr>
          <p:cNvPr id="7" name="Card 2"/>
          <p:cNvSpPr>
            <a:extLst>
              <a:ext uri="smNativeData">
                <pr:smNativeData xmlns:pr="smNativeData" xmlns="smNativeData" val="SMDATA_15_ky7iaRMAAAAlAAAAZQAAAA0AAAAAGwEAABsBAAAbAQAAGwEAAAAAAAAAAAAAAAAAAAEAAABQAAAAMzMzMzMz4z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6SQAAHUKAACFNQAArxsAABAAAAAmAAAACAAAAP//////////"/>
              </a:ext>
            </a:extLst>
          </p:cNvSpPr>
          <p:nvPr/>
        </p:nvSpPr>
        <p:spPr>
          <a:xfrm>
            <a:off x="6000115" y="1699895"/>
            <a:ext cx="2700020" cy="2800350"/>
          </a:xfrm>
          <a:prstGeom prst="roundRect">
            <a:avLst>
              <a:gd name="adj" fmla="val 3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ctr">
              <a:buNone/>
              <p:prBullet>
                <a:buNone/>
              </p:prBullet>
            </a:pPr>
            <a:r>
              <a:rPr lang="en-us" sz="4000" cap="none">
                <a:solidFill>
                  <a:srgbClr val="FFFFFF"/>
                </a:solidFill>
              </a:rPr>
              <a:t></a:t>
            </a:r>
            <a:endParaRPr lang="en-us" sz="4000" cap="none">
              <a:solidFill>
                <a:srgbClr val="FFFFFF"/>
              </a:solidFill>
            </a:endParaRPr>
          </a:p>
          <a:p>
            <a:pPr algn="ctr">
              <a:buNone/>
              <p:prBullet>
                <a:buNone/>
              </p:prBullet>
            </a:pPr>
            <a:r>
              <a:rPr lang="en-us" sz="2200" b="1" cap="none">
                <a:solidFill>
                  <a:srgbClr val="2E86AB"/>
                </a:solidFill>
              </a:rPr>
              <a:t>Multilingual Global Deployments</a:t>
            </a:r>
            <a:endParaRPr lang="en-us" sz="22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600" cap="none">
                <a:solidFill>
                  <a:srgbClr val="CCDDEE"/>
                </a:solidFill>
              </a:rPr>
              <a:t>One RAG system, 50+ languages. Serve global customers in their native language using the same knowledge base.</a:t>
            </a:r>
            <a:endParaRPr lang="en-us" sz="1600" cap="none">
              <a:solidFill>
                <a:srgbClr val="CCDDE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ABUAABAAAAAmAAAACAAAAP//////////"/>
              </a:ext>
            </a:extLst>
          </p:cNvSpPr>
          <p:nvPr/>
        </p:nvSpPr>
        <p:spPr>
          <a:xfrm>
            <a:off x="365760" y="1554480"/>
            <a:ext cx="8412480" cy="1859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3800" b="1" cap="none">
                <a:solidFill>
                  <a:srgbClr val="E6E6E6"/>
                </a:solidFill>
              </a:defRPr>
            </a:pPr>
            <a:r>
              <a:t>Our RAG-System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6ERaAP///wgAAAAAAAAAAAAAAAAAAAAAAAAAAAAAAAAAAAAAeAAAAAEAAABAAAAAAAAAAAAAAABaAAAAAAAAAAAAAAAAAAAAAAAAAAAAAAAAAAAAAAAAAAAAAAAAAAAAAAAAAAAAAAAAAAAAAAAAAAAAAAAAAAAAAAAAAAAAAAAAAAAAFAAAADwAAAABAAAAAAAAAOhEWg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RaAP///wEAAAAAAAAAAAAAAAAAAAAAAAAAAAAAAAAAAAAAAAAAAOhEWgB/f38AgICAA8zMzADAwP8Af39/AAAAAAAAAAAAAAAAAAAAAAAAAAAAIQAAABgAAAAUAAAA2f///wAAAADZ////pB8AABAAAAAmAAAACAAAAP//////////"/>
              </a:ext>
            </a:extLst>
          </p:cNvSpPr>
          <p:nvPr/>
        </p:nvSpPr>
        <p:spPr>
          <a:xfrm>
            <a:off x="-24765" y="0"/>
            <a:ext cx="0" cy="5143500"/>
          </a:xfrm>
          <a:prstGeom prst="rect">
            <a:avLst/>
          </a:prstGeom>
          <a:solidFill>
            <a:srgbClr val="E8445A"/>
          </a:solidFill>
          <a:ln w="12700" cap="flat" cmpd="sng" algn="ctr">
            <a:solidFill>
              <a:srgbClr val="E8445A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Component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HgIAALEBAAAMNgAAQwUAABAAAAAmAAAACAAAAP//////////"/>
              </a:ext>
            </a:extLst>
          </p:cNvSpPr>
          <p:nvPr/>
        </p:nvSpPr>
        <p:spPr>
          <a:xfrm>
            <a:off x="344170" y="274955"/>
            <a:ext cx="8441690" cy="580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4400" b="1" cap="none">
                <a:solidFill>
                  <a:schemeClr val="bg1"/>
                </a:solidFill>
              </a:rPr>
              <a:t>Audio Transcription via Whisper</a:t>
            </a:r>
            <a:endParaRPr lang="en-us" sz="4400" b="1" cap="none">
              <a:solidFill>
                <a:schemeClr val="bg1"/>
              </a:solidFill>
            </a:endParaRPr>
          </a:p>
        </p:txBody>
      </p:sp>
      <p:sp>
        <p:nvSpPr>
          <p:cNvPr id="4" name="Divide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6ERaAP///w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RaAP///wEAAAAAAAAAAAAAAAAAAAAAAAAAAAAAAAAAAAAAAAAAAP///wJ/f38AgICAA8zMzADAwP8Af39/AAAAAAAAAAAAAAAAAAAAAAAAAAAAIQAAABgAAAAUAAAA2AEAAE4IAADANgAAaggAABAAAAAmAAAACAAAAP//////////"/>
              </a:ext>
            </a:extLst>
          </p:cNvSpPr>
          <p:nvPr/>
        </p:nvSpPr>
        <p:spPr>
          <a:xfrm>
            <a:off x="299720" y="1350010"/>
            <a:ext cx="8600440" cy="17780"/>
          </a:xfrm>
          <a:prstGeom prst="rect">
            <a:avLst/>
          </a:prstGeom>
          <a:solidFill>
            <a:srgbClr val="E8445A"/>
          </a:solidFill>
          <a:ln>
            <a:noFill/>
          </a:ln>
          <a:effectLst/>
        </p:spPr>
      </p:sp>
      <p:sp>
        <p:nvSpPr>
          <p:cNvPr id="5" name="DetailRight"/>
          <p:cNvSpPr>
            <a:extLst>
              <a:ext uri="smNativeData">
                <pr:smNativeData xmlns:pr="smNativeData" xmlns="smNativeData" val="SMDATA_15_ky7iaRMAAAAlAAAAZQAAAA0AAAAAGwEAABsBAAAbAQAAGwEAAAAAAAAAAAAAAAAAAAEAAABQAAAAmpmZmZmZ2T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OhEWg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OhEWgB/f38AgICAA8zMzADAwP8Af39/AAAAAAAAAAAAAAAAAAAAAAAAAAAAIQAAABgAAAAUAAAAGw8AAM0JAABAKQAAuB4AABAAAAAmAAAACAAAAP//////////"/>
              </a:ext>
            </a:extLst>
          </p:cNvSpPr>
          <p:nvPr/>
        </p:nvSpPr>
        <p:spPr>
          <a:xfrm>
            <a:off x="2455545" y="1593215"/>
            <a:ext cx="4250055" cy="3400425"/>
          </a:xfrm>
          <a:prstGeom prst="roundRect">
            <a:avLst>
              <a:gd name="adj" fmla="val 20000"/>
            </a:avLst>
          </a:prstGeom>
          <a:solidFill>
            <a:srgbClr val="1A3A4A"/>
          </a:solidFill>
          <a:ln w="19050" cap="flat" cmpd="sng" algn="ctr">
            <a:solidFill>
              <a:srgbClr val="E8445A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l">
              <a:buNone/>
              <p:prBullet>
                <a:buNone/>
              </p:prBullet>
            </a:pPr>
            <a:r>
              <a:rPr lang="en-us" sz="2000" b="1" cap="none">
                <a:solidFill>
                  <a:srgbClr val="FFFFFF"/>
                </a:solidFill>
              </a:rPr>
              <a:t>Models tested</a:t>
            </a:r>
            <a:endParaRPr lang="en-us" sz="2000" b="1" cap="none">
              <a:solidFill>
                <a:srgbClr val="FFFFFF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whisper-tiny · whisper-base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whisper-small · whisper-medium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whisper-large-v3 · Whisper API</a:t>
            </a:r>
            <a:endParaRPr lang="en-us" sz="1900" cap="none">
              <a:solidFill>
                <a:srgbClr val="AABBCC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b="1" cap="none">
                <a:solidFill>
                  <a:srgbClr val="2E86AB"/>
                </a:solidFill>
              </a:rPr>
              <a:t>Key Metric: WER (Word Error Rate)</a:t>
            </a:r>
            <a:endParaRPr lang="en-us" sz="1900" b="1" cap="none">
              <a:solidFill>
                <a:srgbClr val="2E86AB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cap="none">
                <a:solidFill>
                  <a:srgbClr val="AABBCC"/>
                </a:solidFill>
              </a:rPr>
              <a:t>Tracked via LangSmith tracing for every model run and benchmark.</a:t>
            </a:r>
            <a:endParaRPr lang="en-us" cap="none">
              <a:solidFill>
                <a:srgbClr val="AABB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9aYjAP///wgAAAAAAAAAAAAAAAAAAAAAAAAAAAAAAAAAAAAAeAAAAAEAAABAAAAAAAAAAAAAAABaAAAAAAAAAAAAAAAAAAAAAAAAAAAAAAAAAAAAAAAAAAAAAAAAAAAAAAAAAAAAAAAAAAAAAAAAAAAAAAAAAAAAAAAAAAAAAAAAAAAAFAAAADwAAAABAAAAAAAAAPWmI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nUAF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aYjAP///wEAAAAAAAAAAAAAAAAAAAAAAAAAAAAAAAAAAAAAAAAAAPWmIwB/f38AgICAA8zMzADAwP8Af39/AAAAAAAAAAAAAAAAAAAAAAAAAAAAIQAAABgAAAAUAAAAzP///wAAAADM////pB8AABAAAAAmAAAACAAAAP//////////"/>
              </a:ext>
            </a:extLst>
          </p:cNvSpPr>
          <p:nvPr/>
        </p:nvSpPr>
        <p:spPr>
          <a:xfrm>
            <a:off x="-33020" y="0"/>
            <a:ext cx="0" cy="5143500"/>
          </a:xfrm>
          <a:prstGeom prst="rect">
            <a:avLst/>
          </a:prstGeom>
          <a:solidFill>
            <a:srgbClr val="F5A623"/>
          </a:solidFill>
          <a:ln w="12700" cap="flat" cmpd="sng" algn="ctr">
            <a:solidFill>
              <a:srgbClr val="F5A623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Component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JZAl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KwIAAMoBAAA0NgAAXAUAABAAAAAmAAAACAAAAP//////////"/>
              </a:ext>
            </a:extLst>
          </p:cNvSpPr>
          <p:nvPr/>
        </p:nvSpPr>
        <p:spPr>
          <a:xfrm>
            <a:off x="352425" y="290830"/>
            <a:ext cx="8458835" cy="580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4400" b="1" cap="none">
                <a:solidFill>
                  <a:schemeClr val="bg1"/>
                </a:solidFill>
              </a:rPr>
              <a:t>Text Chunking &amp; Embedding</a:t>
            </a:r>
            <a:endParaRPr lang="en-us" sz="4400" b="1" cap="none">
              <a:solidFill>
                <a:schemeClr val="bg1"/>
              </a:solidFill>
            </a:endParaRPr>
          </a:p>
        </p:txBody>
      </p:sp>
      <p:sp>
        <p:nvSpPr>
          <p:cNvPr id="4" name="Divide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9aYjAP///w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aYjAP///wEAAAAAAAAAAAAAAAAAAAAAAAAAAAAAAAAAAAAAAAAAAP///wJ/f38AgICAA8zMzADAwP8Af39/AAAAAAAAAAAAAAAAAAAAAAAAAAAAIQAAABgAAAAUAAAA2AEAAE4IAADANgAAaggAABAAAAAmAAAACAAAAP//////////"/>
              </a:ext>
            </a:extLst>
          </p:cNvSpPr>
          <p:nvPr/>
        </p:nvSpPr>
        <p:spPr>
          <a:xfrm>
            <a:off x="299720" y="1350010"/>
            <a:ext cx="8600440" cy="177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</p:sp>
      <p:sp>
        <p:nvSpPr>
          <p:cNvPr id="5" name="DetailRight"/>
          <p:cNvSpPr>
            <a:extLst>
              <a:ext uri="smNativeData">
                <pr:smNativeData xmlns:pr="smNativeData" xmlns="smNativeData" val="SMDATA_15_ky7iaRMAAAAlAAAAZQAAAA0AAAAAGwEAABsBAAAbAQAAGwEAAAAAAAAAAAAAAAAAAAEAAABQAAAAmpmZmZmZ2T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PWmI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ZEj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PWmIwB/f38AgICAA8zMzADAwP8Af39/AAAAAAAAAAAAAAAAAAAAAAAAAAAAIQAAABgAAAAUAAAAaw8AAOcJAACQKQAA0h4AABAAAAAmAAAACAAAAP//////////"/>
              </a:ext>
            </a:extLst>
          </p:cNvSpPr>
          <p:nvPr/>
        </p:nvSpPr>
        <p:spPr>
          <a:xfrm>
            <a:off x="2506345" y="1609725"/>
            <a:ext cx="4250055" cy="3400425"/>
          </a:xfrm>
          <a:prstGeom prst="roundRect">
            <a:avLst>
              <a:gd name="adj" fmla="val 20000"/>
            </a:avLst>
          </a:prstGeom>
          <a:solidFill>
            <a:srgbClr val="1A3A4A"/>
          </a:solidFill>
          <a:ln w="19050" cap="flat" cmpd="sng" algn="ctr">
            <a:solidFill>
              <a:srgbClr val="F5A623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l">
              <a:buNone/>
              <p:prBullet>
                <a:buNone/>
              </p:prBullet>
            </a:pPr>
            <a:r>
              <a:rPr lang="en-us" sz="2000" b="1" cap="none">
                <a:solidFill>
                  <a:srgbClr val="FFFFFF"/>
                </a:solidFill>
              </a:rPr>
              <a:t>Embedding Models</a:t>
            </a:r>
            <a:endParaRPr lang="en-us" sz="2000" b="1" cap="none">
              <a:solidFill>
                <a:srgbClr val="FFFFFF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text-embedding-3-small (OpenAI)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HuggingFace sentence-transformers</a:t>
            </a:r>
            <a:endParaRPr lang="en-us" sz="1900" cap="none">
              <a:solidFill>
                <a:srgbClr val="AABBCC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b="1" cap="none">
                <a:solidFill>
                  <a:srgbClr val="F5A623"/>
                </a:solidFill>
              </a:rPr>
              <a:t>Winner: text-embedding-3-small</a:t>
            </a:r>
            <a:endParaRPr lang="en-us" sz="1900" b="1" cap="none">
              <a:solidFill>
                <a:srgbClr val="F5A623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cap="none">
                <a:solidFill>
                  <a:srgbClr val="AABBCC"/>
                </a:solidFill>
              </a:rPr>
              <a:t>Highest MRR@5 and Hit-Rate@5 across all video lengths tested.</a:t>
            </a:r>
            <a:endParaRPr lang="en-us" cap="none">
              <a:solidFill>
                <a:srgbClr val="AABB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Pb6MAP///wgAAAAAAAAAAAAAAAAAAAAAAAAAAAAAAAAAAAAAeAAAAAEAAABAAAAAAAAAAAAAAABaAAAAAAAAAAAAAAAAAAAAAAAAAAAAAAAAAAAAAAAAAAAAAAAAAAAAAAAAAAAAAAAAAAAAAAAAAAAAAAAAAAAAAAAAAAAAAAAAAAAAFAAAADwAAAABAAAAAAAAAD2+j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FxAA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b6MAP///wEAAAAAAAAAAAAAAAAAAAAAAAAAAAAAAAAAAAAAAAAAAD2+jAB/f38AgICAA8zMzADAwP8Af39/AAAAAAAAAAAAAAAAAAAAAAAAAAAAIQAAABgAAAAUAAAAAAAAAAAAAAAAAAAApB8AABAAAAAmAAAACAAAAP//////////"/>
              </a:ext>
            </a:extLst>
          </p:cNvSpPr>
          <p:nvPr/>
        </p:nvSpPr>
        <p:spPr>
          <a:xfrm>
            <a:off x="0" y="0"/>
            <a:ext cx="0" cy="5143500"/>
          </a:xfrm>
          <a:prstGeom prst="rect">
            <a:avLst/>
          </a:prstGeom>
          <a:solidFill>
            <a:srgbClr val="3DBE8C"/>
          </a:solidFill>
          <a:ln w="12700" cap="flat" cmpd="sng" algn="ctr">
            <a:solidFill>
              <a:srgbClr val="3DBE8C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Component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m0Gb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6gEAANgBAAB2NgAAagUAABAAAAAmAAAACAAAAP//////////"/>
              </a:ext>
            </a:extLst>
          </p:cNvSpPr>
          <p:nvPr/>
        </p:nvSpPr>
        <p:spPr>
          <a:xfrm>
            <a:off x="311150" y="299720"/>
            <a:ext cx="8542020" cy="580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4400" b="1" cap="none">
                <a:solidFill>
                  <a:schemeClr val="bg1"/>
                </a:solidFill>
              </a:rPr>
              <a:t> Store &amp; Retrieval via ChromaDB</a:t>
            </a:r>
            <a:endParaRPr lang="en-us" sz="4400" b="1" cap="none">
              <a:solidFill>
                <a:schemeClr val="bg1"/>
              </a:solidFill>
            </a:endParaRPr>
          </a:p>
        </p:txBody>
      </p:sp>
      <p:sp>
        <p:nvSpPr>
          <p:cNvPr id="4" name="Divide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Pb6MAP///w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lwA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b6MAP///wEAAAAAAAAAAAAAAAAAAAAAAAAAAAAAAAAAAAAAAAAAAP///wJ/f38AgICAA8zMzADAwP8Af39/AAAAAAAAAAAAAAAAAAAAAAAAAAAAIQAAABgAAAAUAAAA2AEAAE4IAADANgAAaggAABAAAAAmAAAACAAAAP//////////"/>
              </a:ext>
            </a:extLst>
          </p:cNvSpPr>
          <p:nvPr/>
        </p:nvSpPr>
        <p:spPr>
          <a:xfrm>
            <a:off x="299720" y="1350010"/>
            <a:ext cx="8600440" cy="17780"/>
          </a:xfrm>
          <a:prstGeom prst="rect">
            <a:avLst/>
          </a:prstGeom>
          <a:solidFill>
            <a:srgbClr val="3DBE8C"/>
          </a:solidFill>
          <a:ln>
            <a:noFill/>
          </a:ln>
          <a:effectLst/>
        </p:spPr>
      </p:sp>
      <p:sp>
        <p:nvSpPr>
          <p:cNvPr id="5" name="DetailRight"/>
          <p:cNvSpPr>
            <a:extLst>
              <a:ext uri="smNativeData">
                <pr:smNativeData xmlns:pr="smNativeData" xmlns="smNativeData" val="SMDATA_15_ky7iaRMAAAAlAAAAZQAAAA0AAAAAGwEAABsBAAAbAQAAGwEAAAAAAAAAAAAAAAAAAAEAAABQAAAAmpmZmZmZ2T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D2+jA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0A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D2+jAB/f38AgICAA8zMzADAwP8Af39/AAAAAAAAAAAAAAAAAAAAAAAAAAAAIQAAABgAAAAUAAAAAQ8AANkJAAAmKQAAxB4AABAAAAAmAAAACAAAAP//////////"/>
              </a:ext>
            </a:extLst>
          </p:cNvSpPr>
          <p:nvPr/>
        </p:nvSpPr>
        <p:spPr>
          <a:xfrm>
            <a:off x="2439035" y="1600835"/>
            <a:ext cx="4250055" cy="3400425"/>
          </a:xfrm>
          <a:prstGeom prst="roundRect">
            <a:avLst>
              <a:gd name="adj" fmla="val 20000"/>
            </a:avLst>
          </a:prstGeom>
          <a:solidFill>
            <a:srgbClr val="1A3A4A"/>
          </a:solidFill>
          <a:ln w="19050" cap="flat" cmpd="sng" algn="ctr">
            <a:solidFill>
              <a:srgbClr val="3DBE8C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l">
              <a:buNone/>
              <p:prBullet>
                <a:buNone/>
              </p:prBullet>
            </a:pPr>
            <a:r>
              <a:rPr lang="en-us" sz="2000" b="1" cap="none">
                <a:solidFill>
                  <a:srgbClr val="FFFFFF"/>
                </a:solidFill>
              </a:rPr>
              <a:t>ChromaDB Advantages</a:t>
            </a:r>
            <a:endParaRPr lang="en-us" sz="2000" b="1" cap="none">
              <a:solidFill>
                <a:srgbClr val="FFFFFF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Local — no external API call needed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Persistent storage between sessions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Scales from laptop to cloud deployment</a:t>
            </a:r>
            <a:endParaRPr lang="en-us" sz="1900" cap="none">
              <a:solidFill>
                <a:srgbClr val="AABBCC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b="1" cap="none">
                <a:solidFill>
                  <a:srgbClr val="3DBE8C"/>
                </a:solidFill>
              </a:rPr>
              <a:t>MRR@5 achieved: 0.95 – 1.00</a:t>
            </a:r>
            <a:endParaRPr lang="en-us" sz="1900" b="1" cap="none">
              <a:solidFill>
                <a:srgbClr val="3DBE8C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cap="none">
                <a:solidFill>
                  <a:srgbClr val="AABBCC"/>
                </a:solidFill>
              </a:rPr>
              <a:t>Retrieval is near-perfect at optimal chunk sizes of 150+ tokens.</a:t>
            </a:r>
            <a:endParaRPr lang="en-us" cap="none">
              <a:solidFill>
                <a:srgbClr val="AABB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i2/oAP///wgAAAAAAAAAAAAAAAAAAAAAAAAAAAAAAAAAAAAAeAAAAAEAAABAAAAAAAAAAAAAAABaAAAAAAAAAAAAAAAAAAAAAAAAAAAAAAAAAAAAAAAAAAAAAAAAAAAAAAAAAAAAAAAAAAAAAAAAAAAAAAAAAAAAAAAAAAAAAAAAAAAAFAAAADwAAAABAAAAAAAAAItv6A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JSEl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2/oAP///wEAAAAAAAAAAAAAAAAAAAAAAAAAAAAAAAAAAAAAAAAAAItv6AB/f38AgICAA8zMzADAwP8Af39/AAAAAAAAAAAAAAAAAAAAAAAAAAAAIQAAABgAAAAUAAAAAAAAAAAAAAAAAAAApB8AABAAAAAmAAAACAAAAP//////////"/>
              </a:ext>
            </a:extLst>
          </p:cNvSpPr>
          <p:nvPr/>
        </p:nvSpPr>
        <p:spPr>
          <a:xfrm>
            <a:off x="0" y="0"/>
            <a:ext cx="0" cy="5143500"/>
          </a:xfrm>
          <a:prstGeom prst="rect">
            <a:avLst/>
          </a:prstGeom>
          <a:solidFill>
            <a:srgbClr val="8B6FE8"/>
          </a:solidFill>
          <a:ln w="12700" cap="flat" cmpd="sng" algn="ctr">
            <a:solidFill>
              <a:srgbClr val="8B6FE8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Component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IaEh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EAANgBAADANgAAagUAABAAAAAmAAAACAAAAP//////////"/>
              </a:ext>
            </a:extLst>
          </p:cNvSpPr>
          <p:nvPr/>
        </p:nvSpPr>
        <p:spPr>
          <a:xfrm>
            <a:off x="294640" y="299720"/>
            <a:ext cx="8605520" cy="580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4400" b="1" cap="none">
                <a:solidFill>
                  <a:schemeClr val="bg1"/>
                </a:solidFill>
              </a:rPr>
              <a:t>LangChain Agent — The RAG Brain</a:t>
            </a:r>
            <a:endParaRPr lang="en-us" sz="4400" b="1" cap="none">
              <a:solidFill>
                <a:schemeClr val="bg1"/>
              </a:solidFill>
            </a:endParaRPr>
          </a:p>
        </p:txBody>
      </p:sp>
      <p:sp>
        <p:nvSpPr>
          <p:cNvPr id="4" name="Divide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i2/oAP///w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cWJx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2/oAP///wEAAAAAAAAAAAAAAAAAAAAAAAAAAAAAAAAAAAAAAAAAAP///wJ/f38AgICAA8zMzADAwP8Af39/AAAAAAAAAAAAAAAAAAAAAAAAAAAAIQAAABgAAAAUAAAA2AEAAE4IAADANgAAaggAABAAAAAmAAAACAAAAP//////////"/>
              </a:ext>
            </a:extLst>
          </p:cNvSpPr>
          <p:nvPr/>
        </p:nvSpPr>
        <p:spPr>
          <a:xfrm>
            <a:off x="299720" y="1350010"/>
            <a:ext cx="8600440" cy="17780"/>
          </a:xfrm>
          <a:prstGeom prst="rect">
            <a:avLst/>
          </a:prstGeom>
          <a:solidFill>
            <a:srgbClr val="8B6FE8"/>
          </a:solidFill>
          <a:ln>
            <a:noFill/>
          </a:ln>
          <a:effectLst/>
        </p:spPr>
      </p:sp>
      <p:sp>
        <p:nvSpPr>
          <p:cNvPr id="5" name="DetailRight"/>
          <p:cNvSpPr>
            <a:extLst>
              <a:ext uri="smNativeData">
                <pr:smNativeData xmlns:pr="smNativeData" xmlns="smNativeData" val="SMDATA_15_ky7iaRMAAAAlAAAAZQAAAA0AAAAAGwEAABsBAAAbAQAAGwEAAAAAAAAAAAAAAAAAAAEAAABQAAAAmpmZmZmZ2T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Itv6A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CEk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Itv6AB/f38AgICAA8zMzADAwP8Af39/AAAAAAAAAAAAAAAAAAAAAAAAAAAAIQAAABgAAAAUAAAAXQ8AAM0JAACCKQAAuB4AABAAAAAmAAAACAAAAP//////////"/>
              </a:ext>
            </a:extLst>
          </p:cNvSpPr>
          <p:nvPr/>
        </p:nvSpPr>
        <p:spPr>
          <a:xfrm>
            <a:off x="2497455" y="1593215"/>
            <a:ext cx="4250055" cy="3400425"/>
          </a:xfrm>
          <a:prstGeom prst="roundRect">
            <a:avLst>
              <a:gd name="adj" fmla="val 20000"/>
            </a:avLst>
          </a:prstGeom>
          <a:solidFill>
            <a:srgbClr val="1A3A4A"/>
          </a:solidFill>
          <a:ln w="19050" cap="flat" cmpd="sng" algn="ctr">
            <a:solidFill>
              <a:srgbClr val="8B6FE8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l">
              <a:buNone/>
              <p:prBullet>
                <a:buNone/>
              </p:prBullet>
            </a:pPr>
            <a:r>
              <a:rPr lang="en-us" sz="2000" b="1" cap="none">
                <a:solidFill>
                  <a:srgbClr val="FFFFFF"/>
                </a:solidFill>
              </a:rPr>
              <a:t>LLMs tested</a:t>
            </a:r>
            <a:endParaRPr lang="en-us" sz="2000" b="1" cap="none">
              <a:solidFill>
                <a:srgbClr val="FFFFFF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GPT-4o-mini (best balance)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GPT-4o, GPT-5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Llama 3 via HuggingFace (free tier)</a:t>
            </a:r>
            <a:endParaRPr lang="en-us" sz="1900" cap="none">
              <a:solidFill>
                <a:srgbClr val="AABBCC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b="1" cap="none">
                <a:solidFill>
                  <a:srgbClr val="8B6FE8"/>
                </a:solidFill>
              </a:rPr>
              <a:t>Winner: gpt-4o-mini — score 5.0, 1.2s, $0.00154</a:t>
            </a:r>
            <a:endParaRPr lang="en-us" sz="1900" b="1" cap="none">
              <a:solidFill>
                <a:srgbClr val="8B6FE8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cap="none">
                <a:solidFill>
                  <a:srgbClr val="AABBCC"/>
                </a:solidFill>
              </a:rPr>
              <a:t>Llama 3 is FREE and delivers 0.5s latency — perfect for budget deployments.</a:t>
            </a:r>
            <a:endParaRPr lang="en-us" cap="none">
              <a:solidFill>
                <a:srgbClr val="AABB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CE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AAAAAApB8AABAAAAAmAAAACAAAAP//////////"/>
              </a:ext>
            </a:extLst>
          </p:cNvSpPr>
          <p:nvPr/>
        </p:nvSpPr>
        <p:spPr>
          <a:xfrm>
            <a:off x="0" y="0"/>
            <a:ext cx="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ComponentTitle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CEl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0AEAANgBAADANgAAagUAABAAAAAmAAAACAAAAP//////////"/>
              </a:ext>
            </a:extLst>
          </p:cNvSpPr>
          <p:nvPr/>
        </p:nvSpPr>
        <p:spPr>
          <a:xfrm>
            <a:off x="294640" y="299720"/>
            <a:ext cx="8605520" cy="580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buNone/>
              <p:prBullet>
                <a:buNone/>
              </p:prBullet>
            </a:pPr>
            <a:r>
              <a:rPr lang="en-us" sz="4400" b="1" cap="none">
                <a:solidFill>
                  <a:schemeClr val="bg1"/>
                </a:solidFill>
              </a:rPr>
              <a:t>Tracing &amp; Tracking via LangSmith</a:t>
            </a:r>
            <a:endParaRPr lang="en-us" sz="4400" b="1" cap="none">
              <a:solidFill>
                <a:schemeClr val="bg1"/>
              </a:solidFill>
            </a:endParaRPr>
          </a:p>
        </p:txBody>
      </p:sp>
      <p:sp>
        <p:nvSpPr>
          <p:cNvPr id="4" name="Divide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n/G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P///wJ/f38AgICAA8zMzADAwP8Af39/AAAAAAAAAAAAAAAAAAAAAAAAAAAAIQAAABgAAAAUAAAA2AEAAE4IAADANgAAaggAABAAAAAmAAAACAAAAP//////////"/>
              </a:ext>
            </a:extLst>
          </p:cNvSpPr>
          <p:nvPr/>
        </p:nvSpPr>
        <p:spPr>
          <a:xfrm>
            <a:off x="299720" y="1350010"/>
            <a:ext cx="8600440" cy="177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</p:sp>
      <p:sp>
        <p:nvSpPr>
          <p:cNvPr id="5" name="DetailRight"/>
          <p:cNvSpPr>
            <a:extLst>
              <a:ext uri="smNativeData">
                <pr:smNativeData xmlns:pr="smNativeData" xmlns="smNativeData" val="SMDATA_15_ky7iaRMAAAAlAAAAZQAAAA0AAAAAGwEAABsBAAAbAQAAGwEAAAAAAAAAAAAAAAAAAAEAAABQAAAAmpmZmZmZ2T8AAAAAAAAAAAAAAAAAAOA/AAAAAAAA4D8AAAAAAADgPwAAAAAAAOA/AAAAAAAA4D8AAAAAAADgPwAAAAAAAOA/AAAAAAAA4D8CAAAAjAAAAAEAAAAAAAAAGjpKAP///wgAAAAAAAAAAAAAAAAAAAAAAAAAAAAAAAAAAAAAeAAAAAEAAABAAAAAAAAAAAAAAABaAAAAAAAAAAAAAAAAAAAAAAAAAAAAAAAAAAAAAAAAAAAAAAAAAAAAAAAAAAAAAAAAAAAAAAAAAAAAAAAAAAAAAAAAAAAAAAAAAAAAFAAAADwAAAABAAAAAAAAAC6GqwAe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oRG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jpKAP///wEAAAAAAAAAAAAAAAAAAAAAAAAAAAAAAAAAAAAAAAAAAC6GqwB/f38AgICAA8zMzADAwP8Af39/AAAAAAAAAAAAAAAAAAAAAAAAAAAAIQAAABgAAAAUAAAArQ8AALEJAADSKQAAnB4AABAAAAAmAAAACAAAAP//////////"/>
              </a:ext>
            </a:extLst>
          </p:cNvSpPr>
          <p:nvPr/>
        </p:nvSpPr>
        <p:spPr>
          <a:xfrm>
            <a:off x="2548255" y="1575435"/>
            <a:ext cx="4250055" cy="3400425"/>
          </a:xfrm>
          <a:prstGeom prst="roundRect">
            <a:avLst>
              <a:gd name="adj" fmla="val 20000"/>
            </a:avLst>
          </a:prstGeom>
          <a:solidFill>
            <a:srgbClr val="1A3A4A"/>
          </a:solidFill>
          <a:ln w="1905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  <p:txBody>
          <a:bodyPr vert="horz" wrap="square" lIns="179705" tIns="179705" rIns="179705" bIns="179705" numCol="1" spcCol="215900" anchor="t"/>
          <a:lstStyle/>
          <a:p>
            <a:pPr algn="l">
              <a:buNone/>
              <p:prBullet>
                <a:buNone/>
              </p:prBullet>
            </a:pPr>
            <a:r>
              <a:rPr lang="en-us" sz="2000" b="1" cap="none">
                <a:solidFill>
                  <a:srgbClr val="FFFFFF"/>
                </a:solidFill>
              </a:rPr>
              <a:t>What LangSmith tracks</a:t>
            </a:r>
            <a:endParaRPr lang="en-us" sz="2000" b="1" cap="none">
              <a:solidFill>
                <a:srgbClr val="FFFFFF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End-to-end latency per run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Token usage &amp; API costs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WER per Whisper model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LLM judge evaluation scores</a:t>
            </a:r>
            <a:endParaRPr lang="en-us" sz="1900" cap="none">
              <a:solidFill>
                <a:srgbClr val="AABBCC"/>
              </a:solidFill>
            </a:endParaRPr>
          </a:p>
          <a:p>
            <a:pPr algn="l">
              <a:buNone/>
              <p:prBullet>
                <a:buNone/>
              </p:prBullet>
            </a:pPr>
            <a:r>
              <a:rPr lang="en-us" sz="1900" cap="none">
                <a:solidFill>
                  <a:srgbClr val="AABBCC"/>
                </a:solidFill>
              </a:rPr>
              <a:t>Retrieval quality (MRR@5)</a:t>
            </a:r>
            <a:endParaRPr lang="en-us" sz="1900" cap="none">
              <a:solidFill>
                <a:srgbClr val="AABBCC"/>
              </a:solidFill>
            </a:endParaRPr>
          </a:p>
          <a:p>
            <a:pPr>
              <a:buNone/>
              <p:prBullet>
                <a:buNone/>
              </p:prBullet>
            </a:pPr>
            <a:endParaRPr lang="en-us" sz="1400" cap="none"/>
          </a:p>
          <a:p>
            <a:pPr algn="l">
              <a:buNone/>
              <p:prBullet>
                <a:buNone/>
              </p:prBullet>
            </a:pPr>
            <a:r>
              <a:rPr lang="en-us" b="1" cap="none">
                <a:solidFill>
                  <a:srgbClr val="2E86AB"/>
                </a:solidFill>
              </a:rPr>
              <a:t>100% of benchmark runs fully traced and reproducible.</a:t>
            </a:r>
            <a:endParaRPr lang="en-us" b="1" cap="none">
              <a:solidFill>
                <a:srgbClr val="2E86A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Rechteck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QAIAAJAJAAAANgAAABUAABAAAAAmAAAACAAAAP//////////"/>
              </a:ext>
            </a:extLst>
          </p:cNvSpPr>
          <p:nvPr/>
        </p:nvSpPr>
        <p:spPr>
          <a:xfrm>
            <a:off x="365760" y="1554480"/>
            <a:ext cx="8412480" cy="1859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3800" b="1" cap="none">
                <a:solidFill>
                  <a:srgbClr val="E6E6E6"/>
                </a:solidFill>
              </a:defRPr>
            </a:pPr>
            <a:r>
              <a:t>Multilingual Youtube Analyzer App V 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Chat Interface H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VuFW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pic>
        <p:nvPicPr>
          <p:cNvPr id="3" name="Screenshot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BAFE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PAAAADwAAAAUDcAAE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Judgement 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BCGM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pic>
        <p:nvPicPr>
          <p:cNvPr id="3" name="Screenshot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PAAAADwAAAAUDcAAE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Bench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>
            <a:extLst>
              <a:ext uri="smNativeData">
                <pr:smNativeData xmlns:pr="smNativeData" xmlns="smNativeData" val="SMDATA_15_ky7iaRMAAAAlAAAAZAAAAA0AAAAAkAAAAEgAAACQAAAASAAAAAAAAAAAAAAAAAAAAAEAAABQAAAAAAAAAAAA4D8AAAAAAADgPwAAAAAAAOA/AAAAAAAA4D8AAAAAAADgPwAAAAAAAOA/AAAAAAAA4D8AAAAAAADgPwAAAAAAAOA/AAAAAAAA4D8CAAAAjAAAAAEAAAAAAAAALoarAP///wgA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BcEK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AAAAAAAAAACQAAAApB8AABAAAAAmAAAACAAAAP//////////"/>
              </a:ext>
            </a:extLst>
          </p:cNvSpPr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6AB"/>
          </a:solidFill>
          <a:ln w="12700" cap="flat" cmpd="sng" algn="ctr">
            <a:solidFill>
              <a:srgbClr val="2E86AB"/>
            </a:solidFill>
            <a:prstDash val="solid"/>
            <a:headEnd type="none"/>
            <a:tailEnd type="none"/>
          </a:ln>
          <a:effectLst/>
        </p:spPr>
      </p:sp>
      <p:pic>
        <p:nvPicPr>
          <p:cNvPr id="3" name="Screenshot"/>
          <p:cNvPicPr>
            <a:picLocks noChangeAspect="1"/>
            <a:extLst>
              <a:ext uri="smNativeData">
                <pr:smNativeData xmlns:pr="smNativeData" xmlns="smNativeData" val="SMDATA_17_ky7iaRMAAAAlAAAAEQAAAC0A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PAAAADwAAAAUDcAAE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QMAANACAADsMwAAUAcAABAAAAAmAAAACAAAAP//////////"/>
              </a:ext>
            </a:extLst>
          </p:cNvSpPr>
          <p:nvPr/>
        </p:nvSpPr>
        <p:spPr>
          <a:xfrm>
            <a:off x="640715" y="457200"/>
            <a:ext cx="7799705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3600" b="1" cap="none">
                <a:solidFill>
                  <a:srgbClr val="FFFFFF"/>
                </a:solidFill>
              </a:rPr>
              <a:t>Credits</a:t>
            </a:r>
            <a:endParaRPr lang="en-us" sz="3600" cap="none"/>
          </a:p>
        </p:txBody>
      </p:sp>
      <p:sp>
        <p:nvSpPr>
          <p:cNvPr id="3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OAHAABQEAAAaAoAABAAAAAmAAAACAAAAP//////////"/>
              </a:ext>
            </a:extLst>
          </p:cNvSpPr>
          <p:nvPr/>
        </p:nvSpPr>
        <p:spPr>
          <a:xfrm>
            <a:off x="640080" y="1280160"/>
            <a:ext cx="201168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  <p:prBullet>
                <a:buNone/>
              </p:prBullet>
              <a:defRPr sz="1300" b="1" cap="none">
                <a:solidFill>
                  <a:srgbClr val="000000"/>
                </a:solidFill>
              </a:defRPr>
            </a:pPr>
            <a:r>
              <a:rPr lang="en-us" cap="none"/>
              <a:t>Creator</a:t>
            </a:r>
            <a:endParaRPr lang="en-us" cap="none"/>
          </a:p>
        </p:txBody>
      </p:sp>
      <p:sp>
        <p:nvSpPr>
          <p:cNvPr id="4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UBAAAOAHAACgKQAAaAoAABAAAAAmAAAACAAAAP//////////"/>
              </a:ext>
            </a:extLst>
          </p:cNvSpPr>
          <p:nvPr/>
        </p:nvSpPr>
        <p:spPr>
          <a:xfrm>
            <a:off x="2651760" y="1280160"/>
            <a:ext cx="41148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500" b="1" cap="none">
                <a:solidFill>
                  <a:srgbClr val="FFFFFF"/>
                </a:solidFill>
              </a:rPr>
              <a:t>Daniel Ironhack</a:t>
            </a:r>
            <a:endParaRPr lang="en-us" sz="1500" cap="none"/>
          </a:p>
        </p:txBody>
      </p:sp>
      <p:sp>
        <p:nvSpPr>
          <p:cNvPr id="5" name="Text 5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NALAABQEAAAWA4AABAAAAAmAAAACAAAAP//////////"/>
              </a:ext>
            </a:extLst>
          </p:cNvSpPr>
          <p:nvPr/>
        </p:nvSpPr>
        <p:spPr>
          <a:xfrm>
            <a:off x="640080" y="1920240"/>
            <a:ext cx="201168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  <p:prBullet>
                <a:buNone/>
              </p:prBullet>
              <a:defRPr sz="1300" b="1" cap="none">
                <a:solidFill>
                  <a:srgbClr val="000000"/>
                </a:solidFill>
              </a:defRPr>
            </a:pPr>
            <a:r>
              <a:rPr lang="en-us" cap="none"/>
              <a:t>Assistance</a:t>
            </a:r>
            <a:endParaRPr lang="en-us" cap="none"/>
          </a:p>
        </p:txBody>
      </p:sp>
      <p:sp>
        <p:nvSpPr>
          <p:cNvPr id="6" name="Text 6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UBAAANALAACgKQAAWA4AABAAAAAmAAAACAAAAP//////////"/>
              </a:ext>
            </a:extLst>
          </p:cNvSpPr>
          <p:nvPr/>
        </p:nvSpPr>
        <p:spPr>
          <a:xfrm>
            <a:off x="2651760" y="1920240"/>
            <a:ext cx="41148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500" b="1" cap="none">
                <a:solidFill>
                  <a:srgbClr val="FFFFFF"/>
                </a:solidFill>
              </a:rPr>
              <a:t>Ashish · Jesus · Nurcan</a:t>
            </a:r>
            <a:endParaRPr lang="en-us" sz="1500" cap="none"/>
          </a:p>
        </p:txBody>
      </p:sp>
      <p:sp>
        <p:nvSpPr>
          <p:cNvPr id="7" name="Text 7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MAPAABQEAAASBIAABAAAAAmAAAACAAAAP//////////"/>
              </a:ext>
            </a:extLst>
          </p:cNvSpPr>
          <p:nvPr/>
        </p:nvSpPr>
        <p:spPr>
          <a:xfrm>
            <a:off x="640080" y="2560320"/>
            <a:ext cx="201168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  <p:prBullet>
                <a:buNone/>
              </p:prBullet>
              <a:defRPr sz="1300" b="1" cap="none">
                <a:solidFill>
                  <a:srgbClr val="000000"/>
                </a:solidFill>
              </a:defRPr>
            </a:pPr>
            <a:r>
              <a:rPr lang="en-us" cap="none"/>
              <a:t>Special Thanks</a:t>
            </a:r>
            <a:endParaRPr lang="en-us" cap="none"/>
          </a:p>
        </p:txBody>
      </p:sp>
      <p:sp>
        <p:nvSpPr>
          <p:cNvPr id="8" name="Text 8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UBAAAMAPAACgKQAASBIAABAAAAAmAAAACAAAAP//////////"/>
              </a:ext>
            </a:extLst>
          </p:cNvSpPr>
          <p:nvPr/>
        </p:nvSpPr>
        <p:spPr>
          <a:xfrm>
            <a:off x="2651760" y="2560320"/>
            <a:ext cx="41148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</a:pPr>
            <a:r>
              <a:rPr lang="en-us" sz="1500" b="1" cap="none">
                <a:solidFill>
                  <a:srgbClr val="FFFFFF"/>
                </a:solidFill>
              </a:rPr>
              <a:t>Al Hussein</a:t>
            </a:r>
            <a:endParaRPr lang="en-us" sz="1500" cap="none"/>
          </a:p>
        </p:txBody>
      </p:sp>
      <p:sp>
        <p:nvSpPr>
          <p:cNvPr id="11" name="Text 1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KAXAABQEAAAKBoAABAAAAAmAAAACAAAAP//////////"/>
              </a:ext>
            </a:extLst>
          </p:cNvSpPr>
          <p:nvPr/>
        </p:nvSpPr>
        <p:spPr>
          <a:xfrm>
            <a:off x="640080" y="3200400"/>
            <a:ext cx="201168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  <p:prBullet>
                <a:buNone/>
              </p:prBullet>
              <a:defRPr sz="1300" b="1" cap="none">
                <a:solidFill>
                  <a:srgbClr val="000000"/>
                </a:solidFill>
              </a:defRPr>
            </a:pPr>
            <a:r>
              <a:rPr lang="en-us" cap="none"/>
              <a:t>Atmosphere</a:t>
            </a:r>
            <a:endParaRPr lang="en-us" cap="none"/>
          </a:p>
        </p:txBody>
      </p:sp>
      <p:sp>
        <p:nvSpPr>
          <p:cNvPr id="12" name="Text 1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UBAAAKAXAACgKQAAKBoAABAAAAAmAAAACAAAAP//////////"/>
              </a:ext>
            </a:extLst>
          </p:cNvSpPr>
          <p:nvPr/>
        </p:nvSpPr>
        <p:spPr>
          <a:xfrm>
            <a:off x="2651760" y="3200400"/>
            <a:ext cx="41148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lang="en-us" sz="1500" b="1" cap="none">
                <a:solidFill>
                  <a:srgbClr val="FFFFFF"/>
                </a:solidFill>
              </a:defRPr>
            </a:pPr>
            <a:r>
              <a:t>Lowkey Ambient working music</a:t>
            </a:r>
          </a:p>
        </p:txBody>
      </p:sp>
      <p:sp>
        <p:nvSpPr>
          <p:cNvPr id="13" name="Text 1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LAcAADwMAAAqB4AABAAAAAmAAAACAAAAP//////////"/>
              </a:ext>
            </a:extLst>
          </p:cNvSpPr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>
                <a:solidFill>
                  <a:srgbClr val="000000"/>
                </a:solidFill>
              </a:defRPr>
            </a:pPr>
            <a:r>
              <a:rPr lang="en-us" sz="1200" cap="none"/>
              <a:t>Ironhack AI Bootcamp 2026 — Final Project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gAAAA0AAAAAkAAAAEgAAACQAAAASAAAAAAAAAAAAAAAAAAAAAEAAABQAAAAAAAAAAAA8D8AAAAAAADwPwAAAAAAAOA/AAAAAAAA4D8AAAAAAADgPwAAAAAAAOA/AAAAAAAA4D8AAAAAAADgPwAAAAAAAOA/AAAAAAAA4D8CAAAAjAAAAAEAAAAAAAAALoarAP///whW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BV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MCoAAGD6//+AQwAAsBMAABAAAAAmAAAACAAAAP//////////"/>
              </a:ext>
            </a:extLst>
          </p:cNvSpPr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E86AB">
              <a:alpha val="14000"/>
            </a:srgbClr>
          </a:solidFill>
          <a:ln w="12700" cap="flat" cmpd="sng" algn="ctr">
            <a:solidFill>
              <a:srgbClr val="2E86AB">
                <a:alpha val="15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1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nAQAAKMIAACcMQAAmhYAABAAAAAmAAAACAAAAP//////////"/>
              </a:ext>
            </a:extLst>
          </p:cNvSpPr>
          <p:nvPr/>
        </p:nvSpPr>
        <p:spPr>
          <a:xfrm>
            <a:off x="749300" y="1403985"/>
            <a:ext cx="7315200" cy="227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sz="4800" b="1" cap="none">
                <a:solidFill>
                  <a:srgbClr val="E6E6E6"/>
                </a:solidFill>
              </a:defRPr>
            </a:pPr>
            <a:r>
              <a:t>"We ensure the quality of your customers' experience."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ky7iaRMAAAAlAAAAZgAAAA0AAAAAkAAAAEgAAACQAAAASAAAAAAAAAAAAAAAAAAAAAEAAABQAAAAAAAAAAAA8D8AAAAAAADwPwAAAAAAAOA/AAAAAAAA4D8AAAAAAADgPwAAAAAAAOA/AAAAAAAA4D8AAAAAAADgPwAAAAAAAOA/AAAAAAAA4D8CAAAAjAAAAAEAAAAAAAAALoarAP///whRAAAAAAAAAAAAAAAAAAAAAAAAAAAAAAAAAAAAeAAAAAEAAABAAAAAAAAAAAAAAABaAAAAAAAAAAAAAAAAAAAAAAAAAAAAAAAAAAAAAAAAAAAAAAAAAAAAAAAAAAAAAAAAAAAAAAAAAAAAAAAAAAAAAAAAAAAAAAAAAAAAFAAAADwAAAABAAAAAAAAAC6GqwAU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BQ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oarAP///wEAAAAAAAAAAAAAAAAAAAAAAAAAAAAAAAAAAAAAAAAAAC6GqwB/f38AgICAA8zMzADAwP8Af39/AAAAAAAAAAAAAAAAAAAAAAAAAAAAIQAAABgAAAAUAAAAkPf//3AIAACwEwAAkCQAABAAAAAmAAAACAAAAP//////////"/>
              </a:ext>
            </a:extLst>
          </p:cNvSpPr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2E86AB">
              <a:alpha val="19000"/>
            </a:srgbClr>
          </a:solidFill>
          <a:ln w="12700" cap="flat" cmpd="sng" algn="ctr">
            <a:solidFill>
              <a:srgbClr val="2E86AB">
                <a:alpha val="20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MAGAADwMAAAABIAABAAAAAmAAAACAAAAP//////////"/>
              </a:ext>
            </a:extLst>
          </p:cNvSpPr>
          <p:nvPr/>
        </p:nvSpPr>
        <p:spPr>
          <a:xfrm>
            <a:off x="640080" y="1097280"/>
            <a:ext cx="7315200" cy="1828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4800" cap="none"/>
            </a:pPr>
            <a:r>
              <a:rPr lang="en-us" b="1" cap="none">
                <a:solidFill>
                  <a:srgbClr val="FFFFFF"/>
                </a:solidFill>
              </a:rPr>
              <a:t>Thanks for</a:t>
            </a:r>
            <a:endParaRPr lang="en-us" cap="none"/>
          </a:p>
          <a:p>
            <a:pPr marL="0" indent="0" algn="ctr">
              <a:buNone/>
              <p:prBullet>
                <a:buNone/>
              </p:prBullet>
              <a:defRPr sz="4800" cap="none"/>
            </a:pPr>
            <a:r>
              <a:rPr lang="en-us" b="1" cap="none">
                <a:solidFill>
                  <a:srgbClr val="FFFFFF"/>
                </a:solidFill>
              </a:rPr>
              <a:t>listening!</a:t>
            </a:r>
            <a:endParaRPr lang="en-us" b="1" cap="none">
              <a:solidFill>
                <a:srgbClr val="FFFFFF"/>
              </a:solidFill>
            </a:endParaRPr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n5+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JASAADwMAAAoBcAABAAAAAmAAAACAAAAP//////////"/>
              </a:ext>
            </a:extLst>
          </p:cNvSpPr>
          <p:nvPr/>
        </p:nvSpPr>
        <p:spPr>
          <a:xfrm>
            <a:off x="640080" y="3017520"/>
            <a:ext cx="73152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b="1" cap="none"/>
            </a:pPr>
            <a:r>
              <a:rPr lang="en-us" sz="3200" i="1" cap="none">
                <a:solidFill>
                  <a:srgbClr val="F6AE2D"/>
                </a:solidFill>
              </a:rPr>
              <a:t>Do you have any Questions for me?</a:t>
            </a:r>
            <a:endParaRPr lang="en-us" sz="32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5_ky7iaRMAAAAlAAAAZAAAAA0AAAAAkAAAAEgAAACQAAAASAAAAAAAAAAB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AAAAAB/f38AgICAA8zMzADAwP8Af39/AAAAAAAAAAAAAAAAAAAAAAAAAAAAIQAAABgAAAAUAAAA8AMAACAcAADAMwAAYB4AABAAAAAmAAAACAAAAP//////////"/>
              </a:ext>
            </a:extLst>
          </p:cNvSpPr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  <p:prBullet>
                <a:buNone/>
              </p:prBullet>
              <a:defRPr sz="1500" b="1" cap="none">
                <a:solidFill>
                  <a:srgbClr val="000000"/>
                </a:solidFill>
              </a:defRPr>
            </a:pPr>
            <a:r>
              <a:rPr lang="en-us" cap="none"/>
              <a:t>YouTube Q&amp;A Agent  ·  RAG System  ·  Ironhack AI Bootcamp</a:t>
            </a:r>
            <a:endParaRPr lang="en-us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FFFFFF"/>
      </a:lt1>
      <a:dk2>
        <a:srgbClr val="225171"/>
      </a:dk2>
      <a:lt2>
        <a:srgbClr val="808080"/>
      </a:lt2>
      <a:accent1>
        <a:srgbClr val="99CCFF"/>
      </a:accent1>
      <a:accent2>
        <a:srgbClr val="CCCCFF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3333CC"/>
      </a:hlink>
      <a:folHlink>
        <a:srgbClr val="AF67FF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261CA"/>
        </a:dk1>
        <a:lt1>
          <a:srgbClr val="000099"/>
        </a:lt1>
        <a:dk2>
          <a:srgbClr val="0261CA"/>
        </a:dk2>
        <a:lt2>
          <a:srgbClr val="003366"/>
        </a:lt2>
        <a:accent1>
          <a:srgbClr val="63BBDC"/>
        </a:accent1>
        <a:accent2>
          <a:srgbClr val="00B0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dhuet</cp:lastModifiedBy>
  <cp:revision>0</cp:revision>
  <dcterms:created xsi:type="dcterms:W3CDTF">2019-09-06T13:42:38Z</dcterms:created>
  <dcterms:modified xsi:type="dcterms:W3CDTF">2026-04-17T12:58:59Z</dcterms:modified>
</cp:coreProperties>
</file>